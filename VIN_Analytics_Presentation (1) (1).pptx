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 name="Google Shape;5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 name="Google Shape;12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 name="Google Shape;21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8" name="Google Shape;26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9" name="Google Shape;30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3" name="Google Shape;36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5" name="Google Shape;40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5" name="Google Shape;43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B14"/>
        </a:solidFill>
      </p:bgPr>
    </p:bg>
    <p:spTree>
      <p:nvGrpSpPr>
        <p:cNvPr id="15" name="Shape 15"/>
        <p:cNvGrpSpPr/>
        <p:nvPr/>
      </p:nvGrpSpPr>
      <p:grpSpPr>
        <a:xfrm>
          <a:off x="0" y="0"/>
          <a:ext cx="0" cy="0"/>
          <a:chOff x="0" y="0"/>
          <a:chExt cx="0" cy="0"/>
        </a:xfrm>
      </p:grpSpPr>
      <p:sp>
        <p:nvSpPr>
          <p:cNvPr id="16" name="Google Shape;16;p3"/>
          <p:cNvSpPr/>
          <p:nvPr/>
        </p:nvSpPr>
        <p:spPr>
          <a:xfrm>
            <a:off x="0" y="0"/>
            <a:ext cx="9144000" cy="54900"/>
          </a:xfrm>
          <a:prstGeom prst="rect">
            <a:avLst/>
          </a:prstGeom>
          <a:solidFill>
            <a:srgbClr val="3B82F6"/>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3"/>
          <p:cNvSpPr/>
          <p:nvPr/>
        </p:nvSpPr>
        <p:spPr>
          <a:xfrm>
            <a:off x="0" y="54875"/>
            <a:ext cx="9144000" cy="2724600"/>
          </a:xfrm>
          <a:prstGeom prst="rect">
            <a:avLst/>
          </a:prstGeom>
          <a:solidFill>
            <a:srgbClr val="0A1220"/>
          </a:solidFill>
          <a:ln cap="flat" cmpd="sng" w="12700">
            <a:solidFill>
              <a:srgbClr val="0A12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3"/>
          <p:cNvSpPr/>
          <p:nvPr/>
        </p:nvSpPr>
        <p:spPr>
          <a:xfrm>
            <a:off x="4229100" y="1807100"/>
            <a:ext cx="4508400" cy="1101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800"/>
              <a:buFont typeface="Trebuchet MS"/>
              <a:buNone/>
            </a:pPr>
            <a:r>
              <a:rPr b="1" i="0" lang="en-US" sz="4000" u="none" cap="none" strike="noStrike">
                <a:solidFill>
                  <a:srgbClr val="FFFFFF"/>
                </a:solidFill>
                <a:latin typeface="Trebuchet MS"/>
                <a:ea typeface="Trebuchet MS"/>
                <a:cs typeface="Trebuchet MS"/>
                <a:sym typeface="Trebuchet MS"/>
              </a:rPr>
              <a:t>   VEHICLE ORDER</a:t>
            </a:r>
            <a:endParaRPr b="0" i="0" sz="4000" u="none" cap="none" strike="noStrike">
              <a:solidFill>
                <a:schemeClr val="dk1"/>
              </a:solidFill>
              <a:latin typeface="Calibri"/>
              <a:ea typeface="Calibri"/>
              <a:cs typeface="Calibri"/>
              <a:sym typeface="Calibri"/>
            </a:endParaRPr>
          </a:p>
        </p:txBody>
      </p:sp>
      <p:sp>
        <p:nvSpPr>
          <p:cNvPr id="19" name="Google Shape;19;p3"/>
          <p:cNvSpPr/>
          <p:nvPr/>
        </p:nvSpPr>
        <p:spPr>
          <a:xfrm>
            <a:off x="4572000" y="2779475"/>
            <a:ext cx="3648600" cy="762000"/>
          </a:xfrm>
          <a:prstGeom prst="rect">
            <a:avLst/>
          </a:prstGeom>
          <a:noFill/>
          <a:ln>
            <a:noFill/>
          </a:ln>
        </p:spPr>
        <p:txBody>
          <a:bodyPr anchorCtr="0" anchor="ctr" bIns="45700" lIns="91425" spcFirstLastPara="1" rIns="80400" wrap="square" tIns="45700">
            <a:noAutofit/>
          </a:bodyPr>
          <a:lstStyle/>
          <a:p>
            <a:pPr indent="0" lvl="0" marL="0" marR="0" rtl="0" algn="l">
              <a:lnSpc>
                <a:spcPct val="100000"/>
              </a:lnSpc>
              <a:spcBef>
                <a:spcPts val="0"/>
              </a:spcBef>
              <a:spcAft>
                <a:spcPts val="0"/>
              </a:spcAft>
              <a:buClr>
                <a:srgbClr val="38BDF8"/>
              </a:buClr>
              <a:buSzPts val="2800"/>
              <a:buFont typeface="Trebuchet MS"/>
              <a:buNone/>
            </a:pPr>
            <a:r>
              <a:rPr b="1" i="0" lang="en-US" sz="3500" u="none" cap="none" strike="noStrike">
                <a:solidFill>
                  <a:srgbClr val="38BDF8"/>
                </a:solidFill>
                <a:latin typeface="Trebuchet MS"/>
                <a:ea typeface="Trebuchet MS"/>
                <a:cs typeface="Trebuchet MS"/>
                <a:sym typeface="Trebuchet MS"/>
              </a:rPr>
              <a:t>    </a:t>
            </a:r>
            <a:r>
              <a:rPr b="1" i="0" lang="en-US" sz="4400" u="none" cap="none" strike="noStrike">
                <a:solidFill>
                  <a:srgbClr val="38BDF8"/>
                </a:solidFill>
                <a:latin typeface="Trebuchet MS"/>
                <a:ea typeface="Trebuchet MS"/>
                <a:cs typeface="Trebuchet MS"/>
                <a:sym typeface="Trebuchet MS"/>
              </a:rPr>
              <a:t>ANALYTICS</a:t>
            </a:r>
            <a:endParaRPr b="0" i="0" sz="4400" u="none" cap="none" strike="noStrike">
              <a:solidFill>
                <a:schemeClr val="dk1"/>
              </a:solidFill>
              <a:latin typeface="Calibri"/>
              <a:ea typeface="Calibri"/>
              <a:cs typeface="Calibri"/>
              <a:sym typeface="Calibri"/>
            </a:endParaRPr>
          </a:p>
        </p:txBody>
      </p:sp>
      <p:pic>
        <p:nvPicPr>
          <p:cNvPr id="20" name="Google Shape;20;p3" title="tesla_logo_white (1).png"/>
          <p:cNvPicPr preferRelativeResize="0"/>
          <p:nvPr/>
        </p:nvPicPr>
        <p:blipFill rotWithShape="1">
          <a:blip r:embed="rId3">
            <a:alphaModFix amt="94000"/>
          </a:blip>
          <a:srcRect b="0" l="0" r="0" t="0"/>
          <a:stretch/>
        </p:blipFill>
        <p:spPr>
          <a:xfrm>
            <a:off x="428625" y="856350"/>
            <a:ext cx="3800474" cy="3715650"/>
          </a:xfrm>
          <a:prstGeom prst="rect">
            <a:avLst/>
          </a:prstGeom>
          <a:noFill/>
          <a:ln>
            <a:noFill/>
          </a:ln>
          <a:effectLst>
            <a:outerShdw blurRad="542925" rotWithShape="0" algn="bl" dir="5400000" dist="85725">
              <a:srgbClr val="000000">
                <a:alpha val="0"/>
              </a:srgbClr>
            </a:outerShdw>
            <a:reflection blurRad="0" dir="5400000" dist="38100" endA="0" endPos="30000" fadeDir="5400012" kx="0" rotWithShape="0" algn="bl" stA="8000" stPos="0" sy="-100000" ky="0"/>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B14"/>
        </a:solidFill>
      </p:bgPr>
    </p:bg>
    <p:spTree>
      <p:nvGrpSpPr>
        <p:cNvPr id="25" name="Shape 25"/>
        <p:cNvGrpSpPr/>
        <p:nvPr/>
      </p:nvGrpSpPr>
      <p:grpSpPr>
        <a:xfrm>
          <a:off x="0" y="0"/>
          <a:ext cx="0" cy="0"/>
          <a:chOff x="0" y="0"/>
          <a:chExt cx="0" cy="0"/>
        </a:xfrm>
      </p:grpSpPr>
      <p:sp>
        <p:nvSpPr>
          <p:cNvPr id="26" name="Google Shape;26;p4"/>
          <p:cNvSpPr/>
          <p:nvPr/>
        </p:nvSpPr>
        <p:spPr>
          <a:xfrm>
            <a:off x="0" y="0"/>
            <a:ext cx="9144000" cy="36576"/>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7" name="Google Shape;27;p4"/>
          <p:cNvCxnSpPr/>
          <p:nvPr/>
        </p:nvCxnSpPr>
        <p:spPr>
          <a:xfrm>
            <a:off x="9144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28" name="Google Shape;28;p4"/>
          <p:cNvCxnSpPr/>
          <p:nvPr/>
        </p:nvCxnSpPr>
        <p:spPr>
          <a:xfrm>
            <a:off x="18288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29" name="Google Shape;29;p4"/>
          <p:cNvCxnSpPr/>
          <p:nvPr/>
        </p:nvCxnSpPr>
        <p:spPr>
          <a:xfrm>
            <a:off x="27432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30" name="Google Shape;30;p4"/>
          <p:cNvCxnSpPr/>
          <p:nvPr/>
        </p:nvCxnSpPr>
        <p:spPr>
          <a:xfrm>
            <a:off x="36576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31" name="Google Shape;31;p4"/>
          <p:cNvCxnSpPr/>
          <p:nvPr/>
        </p:nvCxnSpPr>
        <p:spPr>
          <a:xfrm>
            <a:off x="45720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32" name="Google Shape;32;p4"/>
          <p:cNvCxnSpPr/>
          <p:nvPr/>
        </p:nvCxnSpPr>
        <p:spPr>
          <a:xfrm>
            <a:off x="54864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33" name="Google Shape;33;p4"/>
          <p:cNvCxnSpPr/>
          <p:nvPr/>
        </p:nvCxnSpPr>
        <p:spPr>
          <a:xfrm>
            <a:off x="64008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34" name="Google Shape;34;p4"/>
          <p:cNvCxnSpPr/>
          <p:nvPr/>
        </p:nvCxnSpPr>
        <p:spPr>
          <a:xfrm>
            <a:off x="73152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35" name="Google Shape;35;p4"/>
          <p:cNvCxnSpPr/>
          <p:nvPr/>
        </p:nvCxnSpPr>
        <p:spPr>
          <a:xfrm>
            <a:off x="8229600" y="0"/>
            <a:ext cx="0" cy="5143500"/>
          </a:xfrm>
          <a:prstGeom prst="straightConnector1">
            <a:avLst/>
          </a:prstGeom>
          <a:noFill/>
          <a:ln cap="flat" cmpd="sng" w="9525">
            <a:solidFill>
              <a:srgbClr val="162035"/>
            </a:solidFill>
            <a:prstDash val="solid"/>
            <a:round/>
            <a:headEnd len="sm" w="sm" type="none"/>
            <a:tailEnd len="sm" w="sm" type="none"/>
          </a:ln>
        </p:spPr>
      </p:cxnSp>
      <p:sp>
        <p:nvSpPr>
          <p:cNvPr id="36" name="Google Shape;36;p4"/>
          <p:cNvSpPr/>
          <p:nvPr/>
        </p:nvSpPr>
        <p:spPr>
          <a:xfrm>
            <a:off x="457200" y="228600"/>
            <a:ext cx="1645920" cy="256032"/>
          </a:xfrm>
          <a:prstGeom prst="rect">
            <a:avLst/>
          </a:prstGeom>
          <a:solidFill>
            <a:srgbClr val="EF4444">
              <a:alpha val="20000"/>
            </a:srgbClr>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4"/>
          <p:cNvSpPr/>
          <p:nvPr/>
        </p:nvSpPr>
        <p:spPr>
          <a:xfrm>
            <a:off x="457200" y="228600"/>
            <a:ext cx="16458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F4444"/>
              </a:buClr>
              <a:buSzPts val="800"/>
              <a:buFont typeface="Calibri"/>
              <a:buNone/>
            </a:pPr>
            <a:r>
              <a:rPr b="1" i="0" lang="en-US" sz="1200" u="none" cap="none" strike="noStrike">
                <a:solidFill>
                  <a:srgbClr val="EF4444"/>
                </a:solidFill>
                <a:latin typeface="Calibri"/>
                <a:ea typeface="Calibri"/>
                <a:cs typeface="Calibri"/>
                <a:sym typeface="Calibri"/>
              </a:rPr>
              <a:t>THE PROBLEM</a:t>
            </a:r>
            <a:endParaRPr b="0" i="0" sz="1200" u="none" cap="none" strike="noStrike">
              <a:solidFill>
                <a:schemeClr val="dk1"/>
              </a:solidFill>
              <a:latin typeface="Calibri"/>
              <a:ea typeface="Calibri"/>
              <a:cs typeface="Calibri"/>
              <a:sym typeface="Calibri"/>
            </a:endParaRPr>
          </a:p>
        </p:txBody>
      </p:sp>
      <p:sp>
        <p:nvSpPr>
          <p:cNvPr id="38" name="Google Shape;38;p4"/>
          <p:cNvSpPr/>
          <p:nvPr/>
        </p:nvSpPr>
        <p:spPr>
          <a:xfrm>
            <a:off x="457200" y="597388"/>
            <a:ext cx="4572000" cy="499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Why Does Constraint Analysis Matter?</a:t>
            </a:r>
            <a:endParaRPr b="0" i="0" sz="2200" u="none" cap="none" strike="noStrike">
              <a:solidFill>
                <a:schemeClr val="dk1"/>
              </a:solidFill>
              <a:latin typeface="Calibri"/>
              <a:ea typeface="Calibri"/>
              <a:cs typeface="Calibri"/>
              <a:sym typeface="Calibri"/>
            </a:endParaRPr>
          </a:p>
        </p:txBody>
      </p:sp>
      <p:sp>
        <p:nvSpPr>
          <p:cNvPr id="39" name="Google Shape;39;p4"/>
          <p:cNvSpPr/>
          <p:nvPr/>
        </p:nvSpPr>
        <p:spPr>
          <a:xfrm>
            <a:off x="457200" y="1234440"/>
            <a:ext cx="4572000" cy="10058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2E8F0"/>
              </a:buClr>
              <a:buSzPts val="1300"/>
              <a:buFont typeface="Calibri"/>
              <a:buNone/>
            </a:pPr>
            <a:r>
              <a:rPr b="0" i="0" lang="en-US" sz="1300" u="none" cap="none" strike="noStrike">
                <a:solidFill>
                  <a:srgbClr val="E2E8F0"/>
                </a:solidFill>
                <a:latin typeface="Calibri"/>
                <a:ea typeface="Calibri"/>
                <a:cs typeface="Calibri"/>
                <a:sym typeface="Calibri"/>
              </a:rPr>
              <a:t>In a multi-warehouse supply chain, not every order can be fulfilled. When inventory runs out customer orders become constrained, delaying production which leads to major customer dissatisfaction and make them lose trust in Tesla.</a:t>
            </a:r>
            <a:endParaRPr b="0" i="0" sz="1300" u="none" cap="none" strike="noStrike">
              <a:solidFill>
                <a:schemeClr val="dk1"/>
              </a:solidFill>
              <a:latin typeface="Calibri"/>
              <a:ea typeface="Calibri"/>
              <a:cs typeface="Calibri"/>
              <a:sym typeface="Calibri"/>
            </a:endParaRPr>
          </a:p>
        </p:txBody>
      </p:sp>
      <p:sp>
        <p:nvSpPr>
          <p:cNvPr id="40" name="Google Shape;40;p4"/>
          <p:cNvSpPr/>
          <p:nvPr/>
        </p:nvSpPr>
        <p:spPr>
          <a:xfrm>
            <a:off x="5212080" y="411480"/>
            <a:ext cx="3566160" cy="2011680"/>
          </a:xfrm>
          <a:prstGeom prst="rect">
            <a:avLst/>
          </a:prstGeom>
          <a:solidFill>
            <a:srgbClr val="0F1A2E"/>
          </a:solidFill>
          <a:ln cap="flat" cmpd="sng" w="12700">
            <a:solidFill>
              <a:srgbClr val="162035"/>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4"/>
          <p:cNvSpPr/>
          <p:nvPr/>
        </p:nvSpPr>
        <p:spPr>
          <a:xfrm>
            <a:off x="5212080" y="411480"/>
            <a:ext cx="3566160" cy="54864"/>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4"/>
          <p:cNvSpPr/>
          <p:nvPr/>
        </p:nvSpPr>
        <p:spPr>
          <a:xfrm>
            <a:off x="5212080" y="777240"/>
            <a:ext cx="3566160" cy="8229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F4444"/>
              </a:buClr>
              <a:buSzPts val="6400"/>
              <a:buFont typeface="Consolas"/>
              <a:buNone/>
            </a:pPr>
            <a:r>
              <a:rPr b="1" i="0" lang="en-US" sz="6400" u="none" cap="none" strike="noStrike">
                <a:solidFill>
                  <a:srgbClr val="EF4444"/>
                </a:solidFill>
                <a:latin typeface="Consolas"/>
                <a:ea typeface="Consolas"/>
                <a:cs typeface="Consolas"/>
                <a:sym typeface="Consolas"/>
              </a:rPr>
              <a:t>170</a:t>
            </a:r>
            <a:endParaRPr b="0" i="0" sz="6400" u="none" cap="none" strike="noStrike">
              <a:solidFill>
                <a:schemeClr val="dk1"/>
              </a:solidFill>
              <a:latin typeface="Calibri"/>
              <a:ea typeface="Calibri"/>
              <a:cs typeface="Calibri"/>
              <a:sym typeface="Calibri"/>
            </a:endParaRPr>
          </a:p>
        </p:txBody>
      </p:sp>
      <p:sp>
        <p:nvSpPr>
          <p:cNvPr id="43" name="Google Shape;43;p4"/>
          <p:cNvSpPr/>
          <p:nvPr/>
        </p:nvSpPr>
        <p:spPr>
          <a:xfrm>
            <a:off x="5212080" y="1600200"/>
            <a:ext cx="356616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UNIQUE ORDERS ANALYSED</a:t>
            </a:r>
            <a:endParaRPr b="0" i="0" sz="1100" u="none" cap="none" strike="noStrike">
              <a:solidFill>
                <a:schemeClr val="dk1"/>
              </a:solidFill>
              <a:latin typeface="Calibri"/>
              <a:ea typeface="Calibri"/>
              <a:cs typeface="Calibri"/>
              <a:sym typeface="Calibri"/>
            </a:endParaRPr>
          </a:p>
        </p:txBody>
      </p:sp>
      <p:sp>
        <p:nvSpPr>
          <p:cNvPr id="44" name="Google Shape;44;p4"/>
          <p:cNvSpPr/>
          <p:nvPr/>
        </p:nvSpPr>
        <p:spPr>
          <a:xfrm>
            <a:off x="457200" y="2514600"/>
            <a:ext cx="2715768" cy="2240280"/>
          </a:xfrm>
          <a:prstGeom prst="rect">
            <a:avLst/>
          </a:prstGeom>
          <a:solidFill>
            <a:srgbClr val="0F1A2E"/>
          </a:solidFill>
          <a:ln cap="flat" cmpd="sng" w="12700">
            <a:solidFill>
              <a:srgbClr val="162035"/>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4"/>
          <p:cNvSpPr/>
          <p:nvPr/>
        </p:nvSpPr>
        <p:spPr>
          <a:xfrm>
            <a:off x="457200" y="2514600"/>
            <a:ext cx="2715768" cy="54864"/>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4"/>
          <p:cNvSpPr/>
          <p:nvPr/>
        </p:nvSpPr>
        <p:spPr>
          <a:xfrm>
            <a:off x="594360" y="2697480"/>
            <a:ext cx="2468880" cy="4114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4444"/>
              </a:buClr>
              <a:buSzPts val="1400"/>
              <a:buFont typeface="Trebuchet MS"/>
              <a:buNone/>
            </a:pPr>
            <a:r>
              <a:rPr b="1" i="0" lang="en-US" sz="1400" u="none" cap="none" strike="noStrike">
                <a:solidFill>
                  <a:srgbClr val="EF4444"/>
                </a:solidFill>
                <a:latin typeface="Trebuchet MS"/>
                <a:ea typeface="Trebuchet MS"/>
                <a:cs typeface="Trebuchet MS"/>
                <a:sym typeface="Trebuchet MS"/>
              </a:rPr>
              <a:t>No Visibility</a:t>
            </a:r>
            <a:endParaRPr b="0" i="0" sz="1400" u="none" cap="none" strike="noStrike">
              <a:solidFill>
                <a:schemeClr val="dk1"/>
              </a:solidFill>
              <a:latin typeface="Calibri"/>
              <a:ea typeface="Calibri"/>
              <a:cs typeface="Calibri"/>
              <a:sym typeface="Calibri"/>
            </a:endParaRPr>
          </a:p>
        </p:txBody>
      </p:sp>
      <p:sp>
        <p:nvSpPr>
          <p:cNvPr id="47" name="Google Shape;47;p4"/>
          <p:cNvSpPr/>
          <p:nvPr/>
        </p:nvSpPr>
        <p:spPr>
          <a:xfrm>
            <a:off x="594360" y="3127248"/>
            <a:ext cx="2468880" cy="1463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Teams don't know which orders are constrained until it's too late</a:t>
            </a:r>
            <a:endParaRPr b="0" i="0" sz="1200" u="none" cap="none" strike="noStrike">
              <a:solidFill>
                <a:schemeClr val="dk1"/>
              </a:solidFill>
              <a:latin typeface="Calibri"/>
              <a:ea typeface="Calibri"/>
              <a:cs typeface="Calibri"/>
              <a:sym typeface="Calibri"/>
            </a:endParaRPr>
          </a:p>
        </p:txBody>
      </p:sp>
      <p:sp>
        <p:nvSpPr>
          <p:cNvPr id="48" name="Google Shape;48;p4"/>
          <p:cNvSpPr/>
          <p:nvPr/>
        </p:nvSpPr>
        <p:spPr>
          <a:xfrm>
            <a:off x="3355848" y="2514600"/>
            <a:ext cx="2715768" cy="2240280"/>
          </a:xfrm>
          <a:prstGeom prst="rect">
            <a:avLst/>
          </a:prstGeom>
          <a:solidFill>
            <a:srgbClr val="0F1A2E"/>
          </a:solidFill>
          <a:ln cap="flat" cmpd="sng" w="12700">
            <a:solidFill>
              <a:srgbClr val="162035"/>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4"/>
          <p:cNvSpPr/>
          <p:nvPr/>
        </p:nvSpPr>
        <p:spPr>
          <a:xfrm>
            <a:off x="3355848" y="2514600"/>
            <a:ext cx="2715768" cy="54864"/>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4"/>
          <p:cNvSpPr/>
          <p:nvPr/>
        </p:nvSpPr>
        <p:spPr>
          <a:xfrm>
            <a:off x="3493008" y="2697480"/>
            <a:ext cx="2468880" cy="4114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59E0B"/>
              </a:buClr>
              <a:buSzPts val="1400"/>
              <a:buFont typeface="Trebuchet MS"/>
              <a:buNone/>
            </a:pPr>
            <a:r>
              <a:rPr b="1" i="0" lang="en-US" sz="1400" u="none" cap="none" strike="noStrike">
                <a:solidFill>
                  <a:srgbClr val="F59E0B"/>
                </a:solidFill>
                <a:latin typeface="Trebuchet MS"/>
                <a:ea typeface="Trebuchet MS"/>
                <a:cs typeface="Trebuchet MS"/>
                <a:sym typeface="Trebuchet MS"/>
              </a:rPr>
              <a:t>Manual Process</a:t>
            </a:r>
            <a:endParaRPr b="0" i="0" sz="1400" u="none" cap="none" strike="noStrike">
              <a:solidFill>
                <a:schemeClr val="dk1"/>
              </a:solidFill>
              <a:latin typeface="Calibri"/>
              <a:ea typeface="Calibri"/>
              <a:cs typeface="Calibri"/>
              <a:sym typeface="Calibri"/>
            </a:endParaRPr>
          </a:p>
        </p:txBody>
      </p:sp>
      <p:sp>
        <p:nvSpPr>
          <p:cNvPr id="51" name="Google Shape;51;p4"/>
          <p:cNvSpPr/>
          <p:nvPr/>
        </p:nvSpPr>
        <p:spPr>
          <a:xfrm>
            <a:off x="3493008" y="3127248"/>
            <a:ext cx="2468880" cy="1463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Spreadsheet-based analysis is slow, error-prone, and inflexible</a:t>
            </a:r>
            <a:endParaRPr b="0" i="0" sz="1200" u="none" cap="none" strike="noStrike">
              <a:solidFill>
                <a:schemeClr val="dk1"/>
              </a:solidFill>
              <a:latin typeface="Calibri"/>
              <a:ea typeface="Calibri"/>
              <a:cs typeface="Calibri"/>
              <a:sym typeface="Calibri"/>
            </a:endParaRPr>
          </a:p>
        </p:txBody>
      </p:sp>
      <p:sp>
        <p:nvSpPr>
          <p:cNvPr id="52" name="Google Shape;52;p4"/>
          <p:cNvSpPr/>
          <p:nvPr/>
        </p:nvSpPr>
        <p:spPr>
          <a:xfrm>
            <a:off x="6254496" y="2514600"/>
            <a:ext cx="2715768" cy="2240280"/>
          </a:xfrm>
          <a:prstGeom prst="rect">
            <a:avLst/>
          </a:prstGeom>
          <a:solidFill>
            <a:srgbClr val="0F1A2E"/>
          </a:solidFill>
          <a:ln cap="flat" cmpd="sng" w="12700">
            <a:solidFill>
              <a:srgbClr val="162035"/>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4"/>
          <p:cNvSpPr/>
          <p:nvPr/>
        </p:nvSpPr>
        <p:spPr>
          <a:xfrm>
            <a:off x="6254496" y="2514600"/>
            <a:ext cx="2715768" cy="54864"/>
          </a:xfrm>
          <a:prstGeom prst="rect">
            <a:avLst/>
          </a:prstGeom>
          <a:solidFill>
            <a:srgbClr val="8B5CF6"/>
          </a:solidFill>
          <a:ln cap="flat" cmpd="sng" w="1270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4"/>
          <p:cNvSpPr/>
          <p:nvPr/>
        </p:nvSpPr>
        <p:spPr>
          <a:xfrm>
            <a:off x="6391656" y="2697480"/>
            <a:ext cx="2468880" cy="4114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B5CF6"/>
              </a:buClr>
              <a:buSzPts val="1400"/>
              <a:buFont typeface="Trebuchet MS"/>
              <a:buNone/>
            </a:pPr>
            <a:r>
              <a:rPr b="1" i="0" lang="en-US" sz="1400" u="none" cap="none" strike="noStrike">
                <a:solidFill>
                  <a:srgbClr val="8B5CF6"/>
                </a:solidFill>
                <a:latin typeface="Trebuchet MS"/>
                <a:ea typeface="Trebuchet MS"/>
                <a:cs typeface="Trebuchet MS"/>
                <a:sym typeface="Trebuchet MS"/>
              </a:rPr>
              <a:t>No Scenario Planning</a:t>
            </a:r>
            <a:endParaRPr b="0" i="0" sz="1400" u="none" cap="none" strike="noStrike">
              <a:solidFill>
                <a:schemeClr val="dk1"/>
              </a:solidFill>
              <a:latin typeface="Calibri"/>
              <a:ea typeface="Calibri"/>
              <a:cs typeface="Calibri"/>
              <a:sym typeface="Calibri"/>
            </a:endParaRPr>
          </a:p>
        </p:txBody>
      </p:sp>
      <p:sp>
        <p:nvSpPr>
          <p:cNvPr id="55" name="Google Shape;55;p4"/>
          <p:cNvSpPr/>
          <p:nvPr/>
        </p:nvSpPr>
        <p:spPr>
          <a:xfrm>
            <a:off x="6391656" y="3127248"/>
            <a:ext cx="2468880" cy="1463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No way to test 'what if we add stock?' before committing resources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B14"/>
        </a:solidFill>
      </p:bgPr>
    </p:bg>
    <p:spTree>
      <p:nvGrpSpPr>
        <p:cNvPr id="60" name="Shape 60"/>
        <p:cNvGrpSpPr/>
        <p:nvPr/>
      </p:nvGrpSpPr>
      <p:grpSpPr>
        <a:xfrm>
          <a:off x="0" y="0"/>
          <a:ext cx="0" cy="0"/>
          <a:chOff x="0" y="0"/>
          <a:chExt cx="0" cy="0"/>
        </a:xfrm>
      </p:grpSpPr>
      <p:sp>
        <p:nvSpPr>
          <p:cNvPr id="61" name="Google Shape;61;p5"/>
          <p:cNvSpPr/>
          <p:nvPr/>
        </p:nvSpPr>
        <p:spPr>
          <a:xfrm>
            <a:off x="0" y="0"/>
            <a:ext cx="9144000" cy="36576"/>
          </a:xfrm>
          <a:prstGeom prst="rect">
            <a:avLst/>
          </a:prstGeom>
          <a:solidFill>
            <a:srgbClr val="14B8A6"/>
          </a:solidFill>
          <a:ln cap="flat" cmpd="sng" w="12700">
            <a:solidFill>
              <a:srgbClr val="14B8A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2" name="Google Shape;62;p5"/>
          <p:cNvCxnSpPr/>
          <p:nvPr/>
        </p:nvCxnSpPr>
        <p:spPr>
          <a:xfrm>
            <a:off x="9144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63" name="Google Shape;63;p5"/>
          <p:cNvCxnSpPr/>
          <p:nvPr/>
        </p:nvCxnSpPr>
        <p:spPr>
          <a:xfrm>
            <a:off x="18288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64" name="Google Shape;64;p5"/>
          <p:cNvCxnSpPr/>
          <p:nvPr/>
        </p:nvCxnSpPr>
        <p:spPr>
          <a:xfrm>
            <a:off x="27432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65" name="Google Shape;65;p5"/>
          <p:cNvCxnSpPr/>
          <p:nvPr/>
        </p:nvCxnSpPr>
        <p:spPr>
          <a:xfrm>
            <a:off x="36576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66" name="Google Shape;66;p5"/>
          <p:cNvCxnSpPr/>
          <p:nvPr/>
        </p:nvCxnSpPr>
        <p:spPr>
          <a:xfrm>
            <a:off x="45720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67" name="Google Shape;67;p5"/>
          <p:cNvCxnSpPr/>
          <p:nvPr/>
        </p:nvCxnSpPr>
        <p:spPr>
          <a:xfrm>
            <a:off x="54864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68" name="Google Shape;68;p5"/>
          <p:cNvCxnSpPr/>
          <p:nvPr/>
        </p:nvCxnSpPr>
        <p:spPr>
          <a:xfrm>
            <a:off x="64008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69" name="Google Shape;69;p5"/>
          <p:cNvCxnSpPr/>
          <p:nvPr/>
        </p:nvCxnSpPr>
        <p:spPr>
          <a:xfrm>
            <a:off x="73152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70" name="Google Shape;70;p5"/>
          <p:cNvCxnSpPr/>
          <p:nvPr/>
        </p:nvCxnSpPr>
        <p:spPr>
          <a:xfrm>
            <a:off x="8229600" y="0"/>
            <a:ext cx="0" cy="5143500"/>
          </a:xfrm>
          <a:prstGeom prst="straightConnector1">
            <a:avLst/>
          </a:prstGeom>
          <a:noFill/>
          <a:ln cap="flat" cmpd="sng" w="9525">
            <a:solidFill>
              <a:srgbClr val="162035"/>
            </a:solidFill>
            <a:prstDash val="solid"/>
            <a:round/>
            <a:headEnd len="sm" w="sm" type="none"/>
            <a:tailEnd len="sm" w="sm" type="none"/>
          </a:ln>
        </p:spPr>
      </p:cxnSp>
      <p:sp>
        <p:nvSpPr>
          <p:cNvPr id="71" name="Google Shape;71;p5"/>
          <p:cNvSpPr/>
          <p:nvPr/>
        </p:nvSpPr>
        <p:spPr>
          <a:xfrm>
            <a:off x="457200" y="228600"/>
            <a:ext cx="1645920" cy="256032"/>
          </a:xfrm>
          <a:prstGeom prst="rect">
            <a:avLst/>
          </a:prstGeom>
          <a:solidFill>
            <a:srgbClr val="14B8A6">
              <a:alpha val="20000"/>
            </a:srgbClr>
          </a:solidFill>
          <a:ln cap="flat" cmpd="sng" w="12700">
            <a:solidFill>
              <a:srgbClr val="14B8A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5"/>
          <p:cNvSpPr/>
          <p:nvPr/>
        </p:nvSpPr>
        <p:spPr>
          <a:xfrm>
            <a:off x="457200" y="228600"/>
            <a:ext cx="16459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4B8A6"/>
              </a:buClr>
              <a:buSzPts val="800"/>
              <a:buFont typeface="Calibri"/>
              <a:buNone/>
            </a:pPr>
            <a:r>
              <a:rPr b="1" i="0" lang="en-US" sz="1200" u="none" cap="none" strike="noStrike">
                <a:solidFill>
                  <a:srgbClr val="14B8A6"/>
                </a:solidFill>
                <a:latin typeface="Calibri"/>
                <a:ea typeface="Calibri"/>
                <a:cs typeface="Calibri"/>
                <a:sym typeface="Calibri"/>
              </a:rPr>
              <a:t>THE DATA</a:t>
            </a:r>
            <a:endParaRPr b="0" i="0" sz="1200" u="none" cap="none" strike="noStrike">
              <a:solidFill>
                <a:schemeClr val="dk1"/>
              </a:solidFill>
              <a:latin typeface="Calibri"/>
              <a:ea typeface="Calibri"/>
              <a:cs typeface="Calibri"/>
              <a:sym typeface="Calibri"/>
            </a:endParaRPr>
          </a:p>
        </p:txBody>
      </p:sp>
      <p:sp>
        <p:nvSpPr>
          <p:cNvPr id="73" name="Google Shape;73;p5"/>
          <p:cNvSpPr/>
          <p:nvPr/>
        </p:nvSpPr>
        <p:spPr>
          <a:xfrm>
            <a:off x="457200" y="548640"/>
            <a:ext cx="8229600" cy="5943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Understanding the Order Dataset</a:t>
            </a:r>
            <a:endParaRPr b="0" i="0" sz="2200" u="none" cap="none" strike="noStrike">
              <a:solidFill>
                <a:schemeClr val="dk1"/>
              </a:solidFill>
              <a:latin typeface="Calibri"/>
              <a:ea typeface="Calibri"/>
              <a:cs typeface="Calibri"/>
              <a:sym typeface="Calibri"/>
            </a:endParaRPr>
          </a:p>
        </p:txBody>
      </p:sp>
      <p:sp>
        <p:nvSpPr>
          <p:cNvPr id="74" name="Google Shape;74;p5"/>
          <p:cNvSpPr/>
          <p:nvPr/>
        </p:nvSpPr>
        <p:spPr>
          <a:xfrm>
            <a:off x="457200" y="1234440"/>
            <a:ext cx="1938528" cy="1051560"/>
          </a:xfrm>
          <a:prstGeom prst="rect">
            <a:avLst/>
          </a:prstGeom>
          <a:solidFill>
            <a:srgbClr val="0F1A2E"/>
          </a:solidFill>
          <a:ln cap="flat" cmpd="sng" w="12700">
            <a:solidFill>
              <a:srgbClr val="162035"/>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5"/>
          <p:cNvSpPr/>
          <p:nvPr/>
        </p:nvSpPr>
        <p:spPr>
          <a:xfrm>
            <a:off x="457200" y="1234440"/>
            <a:ext cx="1938528" cy="54864"/>
          </a:xfrm>
          <a:prstGeom prst="rect">
            <a:avLst/>
          </a:prstGeom>
          <a:solidFill>
            <a:srgbClr val="38BDF8"/>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5"/>
          <p:cNvSpPr/>
          <p:nvPr/>
        </p:nvSpPr>
        <p:spPr>
          <a:xfrm>
            <a:off x="457200" y="1371600"/>
            <a:ext cx="1938528"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8BDF8"/>
              </a:buClr>
              <a:buSzPts val="3400"/>
              <a:buFont typeface="Consolas"/>
              <a:buNone/>
            </a:pPr>
            <a:r>
              <a:rPr b="1" i="0" lang="en-US" sz="3400" u="none" cap="none" strike="noStrike">
                <a:solidFill>
                  <a:srgbClr val="38BDF8"/>
                </a:solidFill>
                <a:latin typeface="Consolas"/>
                <a:ea typeface="Consolas"/>
                <a:cs typeface="Consolas"/>
                <a:sym typeface="Consolas"/>
              </a:rPr>
              <a:t>170</a:t>
            </a:r>
            <a:endParaRPr b="0" i="0" sz="3400" u="none" cap="none" strike="noStrike">
              <a:solidFill>
                <a:schemeClr val="dk1"/>
              </a:solidFill>
              <a:latin typeface="Calibri"/>
              <a:ea typeface="Calibri"/>
              <a:cs typeface="Calibri"/>
              <a:sym typeface="Calibri"/>
            </a:endParaRPr>
          </a:p>
        </p:txBody>
      </p:sp>
      <p:sp>
        <p:nvSpPr>
          <p:cNvPr id="77" name="Google Shape;77;p5"/>
          <p:cNvSpPr/>
          <p:nvPr/>
        </p:nvSpPr>
        <p:spPr>
          <a:xfrm>
            <a:off x="457200" y="1892808"/>
            <a:ext cx="1938528"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Unique Orders</a:t>
            </a:r>
            <a:endParaRPr b="0" i="0" sz="1100" u="none" cap="none" strike="noStrike">
              <a:solidFill>
                <a:schemeClr val="dk1"/>
              </a:solidFill>
              <a:latin typeface="Calibri"/>
              <a:ea typeface="Calibri"/>
              <a:cs typeface="Calibri"/>
              <a:sym typeface="Calibri"/>
            </a:endParaRPr>
          </a:p>
        </p:txBody>
      </p:sp>
      <p:sp>
        <p:nvSpPr>
          <p:cNvPr id="78" name="Google Shape;78;p5"/>
          <p:cNvSpPr/>
          <p:nvPr/>
        </p:nvSpPr>
        <p:spPr>
          <a:xfrm>
            <a:off x="2578608" y="1234440"/>
            <a:ext cx="1938528" cy="1051560"/>
          </a:xfrm>
          <a:prstGeom prst="rect">
            <a:avLst/>
          </a:prstGeom>
          <a:solidFill>
            <a:srgbClr val="0F1A2E"/>
          </a:solidFill>
          <a:ln cap="flat" cmpd="sng" w="12700">
            <a:solidFill>
              <a:srgbClr val="162035"/>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5"/>
          <p:cNvSpPr/>
          <p:nvPr/>
        </p:nvSpPr>
        <p:spPr>
          <a:xfrm>
            <a:off x="2578608" y="1234440"/>
            <a:ext cx="1938528" cy="54864"/>
          </a:xfrm>
          <a:prstGeom prst="rect">
            <a:avLst/>
          </a:prstGeom>
          <a:solidFill>
            <a:srgbClr val="A78BFA"/>
          </a:solidFill>
          <a:ln cap="flat" cmpd="sng" w="12700">
            <a:solidFill>
              <a:srgbClr val="A78B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5"/>
          <p:cNvSpPr/>
          <p:nvPr/>
        </p:nvSpPr>
        <p:spPr>
          <a:xfrm>
            <a:off x="2578608" y="1371600"/>
            <a:ext cx="1938528"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78BFA"/>
              </a:buClr>
              <a:buSzPts val="3400"/>
              <a:buFont typeface="Consolas"/>
              <a:buNone/>
            </a:pPr>
            <a:r>
              <a:rPr b="1" i="0" lang="en-US" sz="3400" u="none" cap="none" strike="noStrike">
                <a:solidFill>
                  <a:srgbClr val="A78BFA"/>
                </a:solidFill>
                <a:latin typeface="Consolas"/>
                <a:ea typeface="Consolas"/>
                <a:cs typeface="Consolas"/>
                <a:sym typeface="Consolas"/>
              </a:rPr>
              <a:t>4</a:t>
            </a:r>
            <a:endParaRPr b="0" i="0" sz="3400" u="none" cap="none" strike="noStrike">
              <a:solidFill>
                <a:schemeClr val="dk1"/>
              </a:solidFill>
              <a:latin typeface="Calibri"/>
              <a:ea typeface="Calibri"/>
              <a:cs typeface="Calibri"/>
              <a:sym typeface="Calibri"/>
            </a:endParaRPr>
          </a:p>
        </p:txBody>
      </p:sp>
      <p:sp>
        <p:nvSpPr>
          <p:cNvPr id="81" name="Google Shape;81;p5"/>
          <p:cNvSpPr/>
          <p:nvPr/>
        </p:nvSpPr>
        <p:spPr>
          <a:xfrm>
            <a:off x="2578608" y="1892808"/>
            <a:ext cx="1938528"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Parts (A–D)</a:t>
            </a:r>
            <a:endParaRPr b="0" i="0" sz="1100" u="none" cap="none" strike="noStrike">
              <a:solidFill>
                <a:schemeClr val="dk1"/>
              </a:solidFill>
              <a:latin typeface="Calibri"/>
              <a:ea typeface="Calibri"/>
              <a:cs typeface="Calibri"/>
              <a:sym typeface="Calibri"/>
            </a:endParaRPr>
          </a:p>
        </p:txBody>
      </p:sp>
      <p:sp>
        <p:nvSpPr>
          <p:cNvPr id="82" name="Google Shape;82;p5"/>
          <p:cNvSpPr/>
          <p:nvPr/>
        </p:nvSpPr>
        <p:spPr>
          <a:xfrm>
            <a:off x="4700016" y="1234440"/>
            <a:ext cx="1938528" cy="1051560"/>
          </a:xfrm>
          <a:prstGeom prst="rect">
            <a:avLst/>
          </a:prstGeom>
          <a:solidFill>
            <a:srgbClr val="0F1A2E"/>
          </a:solidFill>
          <a:ln cap="flat" cmpd="sng" w="12700">
            <a:solidFill>
              <a:srgbClr val="162035"/>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5"/>
          <p:cNvSpPr/>
          <p:nvPr/>
        </p:nvSpPr>
        <p:spPr>
          <a:xfrm>
            <a:off x="4700016" y="1234440"/>
            <a:ext cx="1938528" cy="54864"/>
          </a:xfrm>
          <a:prstGeom prst="rect">
            <a:avLst/>
          </a:prstGeom>
          <a:solidFill>
            <a:srgbClr val="34D399"/>
          </a:solidFill>
          <a:ln cap="flat" cmpd="sng" w="12700">
            <a:solidFill>
              <a:srgbClr val="34D3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5"/>
          <p:cNvSpPr/>
          <p:nvPr/>
        </p:nvSpPr>
        <p:spPr>
          <a:xfrm>
            <a:off x="4700016" y="1371600"/>
            <a:ext cx="1938528"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4D399"/>
              </a:buClr>
              <a:buSzPts val="3400"/>
              <a:buFont typeface="Consolas"/>
              <a:buNone/>
            </a:pPr>
            <a:r>
              <a:rPr b="1" i="0" lang="en-US" sz="3400" u="none" cap="none" strike="noStrike">
                <a:solidFill>
                  <a:srgbClr val="34D399"/>
                </a:solidFill>
                <a:latin typeface="Consolas"/>
                <a:ea typeface="Consolas"/>
                <a:cs typeface="Consolas"/>
                <a:sym typeface="Consolas"/>
              </a:rPr>
              <a:t>3</a:t>
            </a:r>
            <a:endParaRPr b="0" i="0" sz="3400" u="none" cap="none" strike="noStrike">
              <a:solidFill>
                <a:schemeClr val="dk1"/>
              </a:solidFill>
              <a:latin typeface="Calibri"/>
              <a:ea typeface="Calibri"/>
              <a:cs typeface="Calibri"/>
              <a:sym typeface="Calibri"/>
            </a:endParaRPr>
          </a:p>
        </p:txBody>
      </p:sp>
      <p:sp>
        <p:nvSpPr>
          <p:cNvPr id="85" name="Google Shape;85;p5"/>
          <p:cNvSpPr/>
          <p:nvPr/>
        </p:nvSpPr>
        <p:spPr>
          <a:xfrm>
            <a:off x="4700016" y="1892808"/>
            <a:ext cx="1938528"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Fulfiller WHs</a:t>
            </a:r>
            <a:endParaRPr b="0" i="0" sz="1100" u="none" cap="none" strike="noStrike">
              <a:solidFill>
                <a:schemeClr val="dk1"/>
              </a:solidFill>
              <a:latin typeface="Calibri"/>
              <a:ea typeface="Calibri"/>
              <a:cs typeface="Calibri"/>
              <a:sym typeface="Calibri"/>
            </a:endParaRPr>
          </a:p>
        </p:txBody>
      </p:sp>
      <p:sp>
        <p:nvSpPr>
          <p:cNvPr id="86" name="Google Shape;86;p5"/>
          <p:cNvSpPr/>
          <p:nvPr/>
        </p:nvSpPr>
        <p:spPr>
          <a:xfrm>
            <a:off x="6821424" y="1234440"/>
            <a:ext cx="1938528" cy="1051560"/>
          </a:xfrm>
          <a:prstGeom prst="rect">
            <a:avLst/>
          </a:prstGeom>
          <a:solidFill>
            <a:srgbClr val="0F1A2E"/>
          </a:solidFill>
          <a:ln cap="flat" cmpd="sng" w="12700">
            <a:solidFill>
              <a:srgbClr val="162035"/>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5"/>
          <p:cNvSpPr/>
          <p:nvPr/>
        </p:nvSpPr>
        <p:spPr>
          <a:xfrm>
            <a:off x="6821424" y="1234440"/>
            <a:ext cx="1938528" cy="54864"/>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5"/>
          <p:cNvSpPr/>
          <p:nvPr/>
        </p:nvSpPr>
        <p:spPr>
          <a:xfrm>
            <a:off x="6821424" y="1371600"/>
            <a:ext cx="1938528"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9E0B"/>
              </a:buClr>
              <a:buSzPts val="3400"/>
              <a:buFont typeface="Consolas"/>
              <a:buNone/>
            </a:pPr>
            <a:r>
              <a:rPr b="1" i="0" lang="en-US" sz="3400" u="none" cap="none" strike="noStrike">
                <a:solidFill>
                  <a:srgbClr val="F59E0B"/>
                </a:solidFill>
                <a:latin typeface="Consolas"/>
                <a:ea typeface="Consolas"/>
                <a:cs typeface="Consolas"/>
                <a:sym typeface="Consolas"/>
              </a:rPr>
              <a:t>2</a:t>
            </a:r>
            <a:endParaRPr b="0" i="0" sz="3400" u="none" cap="none" strike="noStrike">
              <a:solidFill>
                <a:schemeClr val="dk1"/>
              </a:solidFill>
              <a:latin typeface="Calibri"/>
              <a:ea typeface="Calibri"/>
              <a:cs typeface="Calibri"/>
              <a:sym typeface="Calibri"/>
            </a:endParaRPr>
          </a:p>
        </p:txBody>
      </p:sp>
      <p:sp>
        <p:nvSpPr>
          <p:cNvPr id="89" name="Google Shape;89;p5"/>
          <p:cNvSpPr/>
          <p:nvPr/>
        </p:nvSpPr>
        <p:spPr>
          <a:xfrm>
            <a:off x="6821424" y="1892808"/>
            <a:ext cx="1938528"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Parent DCs</a:t>
            </a:r>
            <a:endParaRPr b="0" i="0" sz="1100" u="none" cap="none" strike="noStrike">
              <a:solidFill>
                <a:schemeClr val="dk1"/>
              </a:solidFill>
              <a:latin typeface="Calibri"/>
              <a:ea typeface="Calibri"/>
              <a:cs typeface="Calibri"/>
              <a:sym typeface="Calibri"/>
            </a:endParaRPr>
          </a:p>
        </p:txBody>
      </p:sp>
      <p:sp>
        <p:nvSpPr>
          <p:cNvPr id="90" name="Google Shape;90;p5"/>
          <p:cNvSpPr/>
          <p:nvPr/>
        </p:nvSpPr>
        <p:spPr>
          <a:xfrm>
            <a:off x="503050" y="2487177"/>
            <a:ext cx="3931800" cy="2633400"/>
          </a:xfrm>
          <a:prstGeom prst="rect">
            <a:avLst/>
          </a:prstGeom>
          <a:solidFill>
            <a:srgbClr val="0F1A2E"/>
          </a:solidFill>
          <a:ln cap="flat" cmpd="sng" w="12700">
            <a:solidFill>
              <a:srgbClr val="162035"/>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5"/>
          <p:cNvSpPr/>
          <p:nvPr/>
        </p:nvSpPr>
        <p:spPr>
          <a:xfrm>
            <a:off x="457200" y="2514600"/>
            <a:ext cx="3931920" cy="54864"/>
          </a:xfrm>
          <a:prstGeom prst="rect">
            <a:avLst/>
          </a:prstGeom>
          <a:solidFill>
            <a:srgbClr val="14B8A6"/>
          </a:solidFill>
          <a:ln cap="flat" cmpd="sng" w="12700">
            <a:solidFill>
              <a:srgbClr val="14B8A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5"/>
          <p:cNvSpPr/>
          <p:nvPr/>
        </p:nvSpPr>
        <p:spPr>
          <a:xfrm>
            <a:off x="594372" y="2596886"/>
            <a:ext cx="36576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4B8A6"/>
              </a:buClr>
              <a:buSzPts val="1000"/>
              <a:buFont typeface="Calibri"/>
              <a:buNone/>
            </a:pPr>
            <a:r>
              <a:rPr b="1" i="0" lang="en-US" sz="1000" u="none" cap="none" strike="noStrike">
                <a:solidFill>
                  <a:srgbClr val="14B8A6"/>
                </a:solidFill>
                <a:latin typeface="Calibri"/>
                <a:ea typeface="Calibri"/>
                <a:cs typeface="Calibri"/>
                <a:sym typeface="Calibri"/>
              </a:rPr>
              <a:t>WAREHOUSE STRUCTURE</a:t>
            </a:r>
            <a:endParaRPr b="0" i="0" sz="1000" u="none" cap="none" strike="noStrike">
              <a:solidFill>
                <a:schemeClr val="dk1"/>
              </a:solidFill>
              <a:latin typeface="Calibri"/>
              <a:ea typeface="Calibri"/>
              <a:cs typeface="Calibri"/>
              <a:sym typeface="Calibri"/>
            </a:endParaRPr>
          </a:p>
        </p:txBody>
      </p:sp>
      <p:sp>
        <p:nvSpPr>
          <p:cNvPr id="93" name="Google Shape;93;p5"/>
          <p:cNvSpPr/>
          <p:nvPr/>
        </p:nvSpPr>
        <p:spPr>
          <a:xfrm>
            <a:off x="621775" y="2880525"/>
            <a:ext cx="3566100" cy="548700"/>
          </a:xfrm>
          <a:prstGeom prst="rect">
            <a:avLst/>
          </a:prstGeom>
          <a:solidFill>
            <a:srgbClr val="0A1220"/>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5"/>
          <p:cNvSpPr/>
          <p:nvPr/>
        </p:nvSpPr>
        <p:spPr>
          <a:xfrm>
            <a:off x="640077" y="2896353"/>
            <a:ext cx="12801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8BDF8"/>
              </a:buClr>
              <a:buSzPts val="1200"/>
              <a:buFont typeface="Consolas"/>
              <a:buNone/>
            </a:pPr>
            <a:r>
              <a:rPr b="1" i="0" lang="en-US" sz="1200" u="none" cap="none" strike="noStrike">
                <a:solidFill>
                  <a:srgbClr val="38BDF8"/>
                </a:solidFill>
                <a:latin typeface="Consolas"/>
                <a:ea typeface="Consolas"/>
                <a:cs typeface="Consolas"/>
                <a:sym typeface="Consolas"/>
              </a:rPr>
              <a:t>WH-1 (DC)</a:t>
            </a:r>
            <a:endParaRPr b="0" i="0" sz="1200" u="none" cap="none" strike="noStrike">
              <a:solidFill>
                <a:schemeClr val="dk1"/>
              </a:solidFill>
              <a:latin typeface="Calibri"/>
              <a:ea typeface="Calibri"/>
              <a:cs typeface="Calibri"/>
              <a:sym typeface="Calibri"/>
            </a:endParaRPr>
          </a:p>
        </p:txBody>
      </p:sp>
      <p:sp>
        <p:nvSpPr>
          <p:cNvPr id="95" name="Google Shape;95;p5"/>
          <p:cNvSpPr/>
          <p:nvPr/>
        </p:nvSpPr>
        <p:spPr>
          <a:xfrm>
            <a:off x="1975075" y="2838025"/>
            <a:ext cx="19203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Self-parent · Also supplies WH-2</a:t>
            </a:r>
            <a:endParaRPr b="0" i="0" sz="1000" u="none" cap="none" strike="noStrike">
              <a:solidFill>
                <a:schemeClr val="dk1"/>
              </a:solidFill>
              <a:latin typeface="Calibri"/>
              <a:ea typeface="Calibri"/>
              <a:cs typeface="Calibri"/>
              <a:sym typeface="Calibri"/>
            </a:endParaRPr>
          </a:p>
        </p:txBody>
      </p:sp>
      <p:sp>
        <p:nvSpPr>
          <p:cNvPr id="96" name="Google Shape;96;p5"/>
          <p:cNvSpPr/>
          <p:nvPr/>
        </p:nvSpPr>
        <p:spPr>
          <a:xfrm>
            <a:off x="621855" y="3447163"/>
            <a:ext cx="3566100" cy="640200"/>
          </a:xfrm>
          <a:prstGeom prst="rect">
            <a:avLst/>
          </a:prstGeom>
          <a:solidFill>
            <a:srgbClr val="0A1220"/>
          </a:solidFill>
          <a:ln cap="flat" cmpd="sng" w="12700">
            <a:solidFill>
              <a:srgbClr val="A78B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5"/>
          <p:cNvSpPr/>
          <p:nvPr/>
        </p:nvSpPr>
        <p:spPr>
          <a:xfrm>
            <a:off x="640125" y="3410700"/>
            <a:ext cx="9783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78BFA"/>
              </a:buClr>
              <a:buSzPts val="1200"/>
              <a:buFont typeface="Consolas"/>
              <a:buNone/>
            </a:pPr>
            <a:r>
              <a:rPr b="1" i="0" lang="en-US" sz="1200" u="none" cap="none" strike="noStrike">
                <a:solidFill>
                  <a:srgbClr val="A78BFA"/>
                </a:solidFill>
                <a:latin typeface="Consolas"/>
                <a:ea typeface="Consolas"/>
                <a:cs typeface="Consolas"/>
                <a:sym typeface="Consolas"/>
              </a:rPr>
              <a:t>WH-2 </a:t>
            </a:r>
            <a:endParaRPr b="0" i="0" sz="1200" u="none" cap="none" strike="noStrike">
              <a:solidFill>
                <a:schemeClr val="dk1"/>
              </a:solidFill>
              <a:latin typeface="Calibri"/>
              <a:ea typeface="Calibri"/>
              <a:cs typeface="Calibri"/>
              <a:sym typeface="Calibri"/>
            </a:endParaRPr>
          </a:p>
        </p:txBody>
      </p:sp>
      <p:sp>
        <p:nvSpPr>
          <p:cNvPr id="98" name="Google Shape;98;p5"/>
          <p:cNvSpPr/>
          <p:nvPr/>
        </p:nvSpPr>
        <p:spPr>
          <a:xfrm>
            <a:off x="2039175" y="3483875"/>
            <a:ext cx="1938600" cy="40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Parent DC = WH-1</a:t>
            </a:r>
            <a:endParaRPr b="0" i="0" sz="1000" u="none" cap="none" strike="noStrike">
              <a:solidFill>
                <a:schemeClr val="dk1"/>
              </a:solidFill>
              <a:latin typeface="Calibri"/>
              <a:ea typeface="Calibri"/>
              <a:cs typeface="Calibri"/>
              <a:sym typeface="Calibri"/>
            </a:endParaRPr>
          </a:p>
        </p:txBody>
      </p:sp>
      <p:sp>
        <p:nvSpPr>
          <p:cNvPr id="99" name="Google Shape;99;p5"/>
          <p:cNvSpPr/>
          <p:nvPr/>
        </p:nvSpPr>
        <p:spPr>
          <a:xfrm flipH="1">
            <a:off x="3761650" y="3674702"/>
            <a:ext cx="426300" cy="40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8BDF8"/>
              </a:buClr>
              <a:buSzPts val="900"/>
              <a:buFont typeface="Calibri"/>
              <a:buNone/>
            </a:pPr>
            <a:r>
              <a:rPr b="1" i="0" lang="en-US" sz="900" u="none" cap="none" strike="noStrike">
                <a:solidFill>
                  <a:srgbClr val="38BDF8"/>
                </a:solidFill>
                <a:latin typeface="Calibri"/>
                <a:ea typeface="Calibri"/>
                <a:cs typeface="Calibri"/>
                <a:sym typeface="Calibri"/>
              </a:rPr>
              <a:t>↑ DC</a:t>
            </a:r>
            <a:endParaRPr b="0" i="0" sz="900" u="none" cap="none" strike="noStrike">
              <a:solidFill>
                <a:schemeClr val="dk1"/>
              </a:solidFill>
              <a:latin typeface="Calibri"/>
              <a:ea typeface="Calibri"/>
              <a:cs typeface="Calibri"/>
              <a:sym typeface="Calibri"/>
            </a:endParaRPr>
          </a:p>
        </p:txBody>
      </p:sp>
      <p:sp>
        <p:nvSpPr>
          <p:cNvPr id="100" name="Google Shape;100;p5"/>
          <p:cNvSpPr/>
          <p:nvPr/>
        </p:nvSpPr>
        <p:spPr>
          <a:xfrm>
            <a:off x="621850" y="4517250"/>
            <a:ext cx="3566100" cy="548700"/>
          </a:xfrm>
          <a:prstGeom prst="rect">
            <a:avLst/>
          </a:prstGeom>
          <a:solidFill>
            <a:srgbClr val="0A1220"/>
          </a:solidFill>
          <a:ln cap="flat" cmpd="sng" w="12700">
            <a:solidFill>
              <a:srgbClr val="34D3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5"/>
          <p:cNvSpPr/>
          <p:nvPr/>
        </p:nvSpPr>
        <p:spPr>
          <a:xfrm>
            <a:off x="640065" y="4517250"/>
            <a:ext cx="12801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4D399"/>
              </a:buClr>
              <a:buSzPts val="1200"/>
              <a:buFont typeface="Consolas"/>
              <a:buNone/>
            </a:pPr>
            <a:r>
              <a:rPr b="1" i="0" lang="en-US" sz="1200" u="none" cap="none" strike="noStrike">
                <a:solidFill>
                  <a:srgbClr val="34D399"/>
                </a:solidFill>
                <a:latin typeface="Consolas"/>
                <a:ea typeface="Consolas"/>
                <a:cs typeface="Consolas"/>
                <a:sym typeface="Consolas"/>
              </a:rPr>
              <a:t>WH-3</a:t>
            </a:r>
            <a:endParaRPr b="0" i="0" sz="1200" u="none" cap="none" strike="noStrike">
              <a:solidFill>
                <a:schemeClr val="dk1"/>
              </a:solidFill>
              <a:latin typeface="Calibri"/>
              <a:ea typeface="Calibri"/>
              <a:cs typeface="Calibri"/>
              <a:sym typeface="Calibri"/>
            </a:endParaRPr>
          </a:p>
        </p:txBody>
      </p:sp>
      <p:sp>
        <p:nvSpPr>
          <p:cNvPr id="102" name="Google Shape;102;p5"/>
          <p:cNvSpPr/>
          <p:nvPr/>
        </p:nvSpPr>
        <p:spPr>
          <a:xfrm>
            <a:off x="2039250" y="4588027"/>
            <a:ext cx="19842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Parent DC = WH-4</a:t>
            </a:r>
            <a:endParaRPr b="0" i="0" sz="1000" u="none" cap="none" strike="noStrike">
              <a:solidFill>
                <a:schemeClr val="dk1"/>
              </a:solidFill>
              <a:latin typeface="Calibri"/>
              <a:ea typeface="Calibri"/>
              <a:cs typeface="Calibri"/>
              <a:sym typeface="Calibri"/>
            </a:endParaRPr>
          </a:p>
        </p:txBody>
      </p:sp>
      <p:sp>
        <p:nvSpPr>
          <p:cNvPr id="103" name="Google Shape;103;p5"/>
          <p:cNvSpPr/>
          <p:nvPr/>
        </p:nvSpPr>
        <p:spPr>
          <a:xfrm>
            <a:off x="3776405" y="4846345"/>
            <a:ext cx="320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900"/>
              <a:buFont typeface="Calibri"/>
              <a:buNone/>
            </a:pPr>
            <a:r>
              <a:rPr b="1" i="0" lang="en-US" sz="900" u="none" cap="none" strike="noStrike">
                <a:solidFill>
                  <a:srgbClr val="F59E0B"/>
                </a:solidFill>
                <a:latin typeface="Calibri"/>
                <a:ea typeface="Calibri"/>
                <a:cs typeface="Calibri"/>
                <a:sym typeface="Calibri"/>
              </a:rPr>
              <a:t>↑ DC</a:t>
            </a:r>
            <a:endParaRPr b="0" i="0" sz="900" u="none" cap="none" strike="noStrike">
              <a:solidFill>
                <a:schemeClr val="dk1"/>
              </a:solidFill>
              <a:latin typeface="Calibri"/>
              <a:ea typeface="Calibri"/>
              <a:cs typeface="Calibri"/>
              <a:sym typeface="Calibri"/>
            </a:endParaRPr>
          </a:p>
        </p:txBody>
      </p:sp>
      <p:sp>
        <p:nvSpPr>
          <p:cNvPr id="104" name="Google Shape;104;p5"/>
          <p:cNvSpPr/>
          <p:nvPr/>
        </p:nvSpPr>
        <p:spPr>
          <a:xfrm>
            <a:off x="621780" y="3963908"/>
            <a:ext cx="3566100" cy="548700"/>
          </a:xfrm>
          <a:prstGeom prst="rect">
            <a:avLst/>
          </a:prstGeom>
          <a:solidFill>
            <a:srgbClr val="0A1220"/>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5"/>
          <p:cNvSpPr/>
          <p:nvPr/>
        </p:nvSpPr>
        <p:spPr>
          <a:xfrm>
            <a:off x="640115" y="4005065"/>
            <a:ext cx="12801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200"/>
              <a:buFont typeface="Consolas"/>
              <a:buNone/>
            </a:pPr>
            <a:r>
              <a:rPr b="1" i="0" lang="en-US" sz="1200" u="none" cap="none" strike="noStrike">
                <a:solidFill>
                  <a:srgbClr val="F59E0B"/>
                </a:solidFill>
                <a:latin typeface="Consolas"/>
                <a:ea typeface="Consolas"/>
                <a:cs typeface="Consolas"/>
                <a:sym typeface="Consolas"/>
              </a:rPr>
              <a:t>WH-4 (DC)</a:t>
            </a:r>
            <a:endParaRPr b="0" i="0" sz="1200" u="none" cap="none" strike="noStrike">
              <a:solidFill>
                <a:schemeClr val="dk1"/>
              </a:solidFill>
              <a:latin typeface="Calibri"/>
              <a:ea typeface="Calibri"/>
              <a:cs typeface="Calibri"/>
              <a:sym typeface="Calibri"/>
            </a:endParaRPr>
          </a:p>
        </p:txBody>
      </p:sp>
      <p:sp>
        <p:nvSpPr>
          <p:cNvPr id="106" name="Google Shape;106;p5"/>
          <p:cNvSpPr/>
          <p:nvPr/>
        </p:nvSpPr>
        <p:spPr>
          <a:xfrm>
            <a:off x="2039175" y="4005076"/>
            <a:ext cx="19842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Parent DC for WH-3 only</a:t>
            </a:r>
            <a:endParaRPr b="0" i="0" sz="1000" u="none" cap="none" strike="noStrike">
              <a:solidFill>
                <a:schemeClr val="dk1"/>
              </a:solidFill>
              <a:latin typeface="Calibri"/>
              <a:ea typeface="Calibri"/>
              <a:cs typeface="Calibri"/>
              <a:sym typeface="Calibri"/>
            </a:endParaRPr>
          </a:p>
        </p:txBody>
      </p:sp>
      <p:sp>
        <p:nvSpPr>
          <p:cNvPr id="107" name="Google Shape;107;p5"/>
          <p:cNvSpPr/>
          <p:nvPr/>
        </p:nvSpPr>
        <p:spPr>
          <a:xfrm>
            <a:off x="4572000" y="2514600"/>
            <a:ext cx="4206300" cy="2552700"/>
          </a:xfrm>
          <a:prstGeom prst="rect">
            <a:avLst/>
          </a:prstGeom>
          <a:solidFill>
            <a:srgbClr val="0F1A2E"/>
          </a:solidFill>
          <a:ln cap="flat" cmpd="sng" w="12700">
            <a:solidFill>
              <a:srgbClr val="162035"/>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5"/>
          <p:cNvSpPr/>
          <p:nvPr/>
        </p:nvSpPr>
        <p:spPr>
          <a:xfrm>
            <a:off x="4572000" y="2514600"/>
            <a:ext cx="4206240" cy="54864"/>
          </a:xfrm>
          <a:prstGeom prst="rect">
            <a:avLst/>
          </a:prstGeom>
          <a:solidFill>
            <a:srgbClr val="8B5CF6"/>
          </a:solidFill>
          <a:ln cap="flat" cmpd="sng" w="1270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5"/>
          <p:cNvSpPr/>
          <p:nvPr/>
        </p:nvSpPr>
        <p:spPr>
          <a:xfrm>
            <a:off x="4709160" y="2670048"/>
            <a:ext cx="393192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B5CF6"/>
              </a:buClr>
              <a:buSzPts val="1000"/>
              <a:buFont typeface="Calibri"/>
              <a:buNone/>
            </a:pPr>
            <a:r>
              <a:rPr b="1" i="0" lang="en-US" sz="1000" u="none" cap="none" strike="noStrike">
                <a:solidFill>
                  <a:srgbClr val="8B5CF6"/>
                </a:solidFill>
                <a:latin typeface="Calibri"/>
                <a:ea typeface="Calibri"/>
                <a:cs typeface="Calibri"/>
                <a:sym typeface="Calibri"/>
              </a:rPr>
              <a:t>KEY DATA FACTS</a:t>
            </a:r>
            <a:endParaRPr b="0" i="0" sz="1000" u="none" cap="none" strike="noStrike">
              <a:solidFill>
                <a:schemeClr val="dk1"/>
              </a:solidFill>
              <a:latin typeface="Calibri"/>
              <a:ea typeface="Calibri"/>
              <a:cs typeface="Calibri"/>
              <a:sym typeface="Calibri"/>
            </a:endParaRPr>
          </a:p>
        </p:txBody>
      </p:sp>
      <p:sp>
        <p:nvSpPr>
          <p:cNvPr id="110" name="Google Shape;110;p5"/>
          <p:cNvSpPr/>
          <p:nvPr/>
        </p:nvSpPr>
        <p:spPr>
          <a:xfrm>
            <a:off x="4709160" y="3118104"/>
            <a:ext cx="164592" cy="164592"/>
          </a:xfrm>
          <a:prstGeom prst="ellipse">
            <a:avLst/>
          </a:prstGeom>
          <a:solidFill>
            <a:srgbClr val="38BDF8"/>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5"/>
          <p:cNvSpPr/>
          <p:nvPr/>
        </p:nvSpPr>
        <p:spPr>
          <a:xfrm>
            <a:off x="4956048" y="3063240"/>
            <a:ext cx="3657600"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Part D @ WH-3 accounts for 115 of 170 orders (68%)</a:t>
            </a:r>
            <a:endParaRPr b="0" i="0" sz="1100" u="none" cap="none" strike="noStrike">
              <a:solidFill>
                <a:schemeClr val="dk1"/>
              </a:solidFill>
              <a:latin typeface="Calibri"/>
              <a:ea typeface="Calibri"/>
              <a:cs typeface="Calibri"/>
              <a:sym typeface="Calibri"/>
            </a:endParaRPr>
          </a:p>
        </p:txBody>
      </p:sp>
      <p:sp>
        <p:nvSpPr>
          <p:cNvPr id="112" name="Google Shape;112;p5"/>
          <p:cNvSpPr/>
          <p:nvPr/>
        </p:nvSpPr>
        <p:spPr>
          <a:xfrm>
            <a:off x="4709160" y="3520440"/>
            <a:ext cx="164592" cy="164592"/>
          </a:xfrm>
          <a:prstGeom prst="ellipse">
            <a:avLst/>
          </a:prstGeom>
          <a:solidFill>
            <a:srgbClr val="A78BFA"/>
          </a:solidFill>
          <a:ln cap="flat" cmpd="sng" w="12700">
            <a:solidFill>
              <a:srgbClr val="A78B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5"/>
          <p:cNvSpPr/>
          <p:nvPr/>
        </p:nvSpPr>
        <p:spPr>
          <a:xfrm>
            <a:off x="4956048" y="3465576"/>
            <a:ext cx="3657600"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Orders span from Aug 2022 to Mar 2026 ,  3+ year range</a:t>
            </a:r>
            <a:endParaRPr b="0" i="0" sz="1100" u="none" cap="none" strike="noStrike">
              <a:solidFill>
                <a:schemeClr val="dk1"/>
              </a:solidFill>
              <a:latin typeface="Calibri"/>
              <a:ea typeface="Calibri"/>
              <a:cs typeface="Calibri"/>
              <a:sym typeface="Calibri"/>
            </a:endParaRPr>
          </a:p>
        </p:txBody>
      </p:sp>
      <p:sp>
        <p:nvSpPr>
          <p:cNvPr id="114" name="Google Shape;114;p5"/>
          <p:cNvSpPr/>
          <p:nvPr/>
        </p:nvSpPr>
        <p:spPr>
          <a:xfrm>
            <a:off x="4709160" y="3922776"/>
            <a:ext cx="164592" cy="164592"/>
          </a:xfrm>
          <a:prstGeom prst="ellipse">
            <a:avLst/>
          </a:prstGeom>
          <a:solidFill>
            <a:srgbClr val="34D399"/>
          </a:solidFill>
          <a:ln cap="flat" cmpd="sng" w="12700">
            <a:solidFill>
              <a:srgbClr val="34D3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5"/>
          <p:cNvSpPr/>
          <p:nvPr/>
        </p:nvSpPr>
        <p:spPr>
          <a:xfrm>
            <a:off x="4956048" y="3867912"/>
            <a:ext cx="3657600"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Compatible parts allow cross-substitution in FIFO chain</a:t>
            </a:r>
            <a:endParaRPr b="0" i="0" sz="1100" u="none" cap="none" strike="noStrike">
              <a:solidFill>
                <a:schemeClr val="dk1"/>
              </a:solidFill>
              <a:latin typeface="Calibri"/>
              <a:ea typeface="Calibri"/>
              <a:cs typeface="Calibri"/>
              <a:sym typeface="Calibri"/>
            </a:endParaRPr>
          </a:p>
        </p:txBody>
      </p:sp>
      <p:sp>
        <p:nvSpPr>
          <p:cNvPr id="116" name="Google Shape;116;p5"/>
          <p:cNvSpPr/>
          <p:nvPr/>
        </p:nvSpPr>
        <p:spPr>
          <a:xfrm>
            <a:off x="4709160" y="4325112"/>
            <a:ext cx="164592" cy="164592"/>
          </a:xfrm>
          <a:prstGeom prst="ellipse">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5"/>
          <p:cNvSpPr/>
          <p:nvPr/>
        </p:nvSpPr>
        <p:spPr>
          <a:xfrm>
            <a:off x="4956048" y="4270248"/>
            <a:ext cx="3657600"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Multi-row orders: same order ID can appear with multiple compatible parts</a:t>
            </a:r>
            <a:endParaRPr b="0" i="0" sz="1100" u="none" cap="none" strike="noStrike">
              <a:solidFill>
                <a:schemeClr val="dk1"/>
              </a:solidFill>
              <a:latin typeface="Calibri"/>
              <a:ea typeface="Calibri"/>
              <a:cs typeface="Calibri"/>
              <a:sym typeface="Calibri"/>
            </a:endParaRPr>
          </a:p>
        </p:txBody>
      </p:sp>
      <p:sp>
        <p:nvSpPr>
          <p:cNvPr id="118" name="Google Shape;118;p5"/>
          <p:cNvSpPr/>
          <p:nvPr/>
        </p:nvSpPr>
        <p:spPr>
          <a:xfrm>
            <a:off x="4709160" y="4727448"/>
            <a:ext cx="164592" cy="164592"/>
          </a:xfrm>
          <a:prstGeom prst="ellipse">
            <a:avLst/>
          </a:prstGeom>
          <a:solidFill>
            <a:srgbClr val="FB923C"/>
          </a:solidFill>
          <a:ln cap="flat" cmpd="sng" w="12700">
            <a:solidFill>
              <a:srgbClr val="FB923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5"/>
          <p:cNvSpPr/>
          <p:nvPr/>
        </p:nvSpPr>
        <p:spPr>
          <a:xfrm>
            <a:off x="4956048" y="4672584"/>
            <a:ext cx="3657600"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Order quantities range from 1 unit to 100 units per order</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B14"/>
        </a:solidFill>
      </p:bgPr>
    </p:bg>
    <p:spTree>
      <p:nvGrpSpPr>
        <p:cNvPr id="124" name="Shape 124"/>
        <p:cNvGrpSpPr/>
        <p:nvPr/>
      </p:nvGrpSpPr>
      <p:grpSpPr>
        <a:xfrm>
          <a:off x="0" y="0"/>
          <a:ext cx="0" cy="0"/>
          <a:chOff x="0" y="0"/>
          <a:chExt cx="0" cy="0"/>
        </a:xfrm>
      </p:grpSpPr>
      <p:sp>
        <p:nvSpPr>
          <p:cNvPr id="125" name="Google Shape;125;p6"/>
          <p:cNvSpPr/>
          <p:nvPr/>
        </p:nvSpPr>
        <p:spPr>
          <a:xfrm>
            <a:off x="0" y="0"/>
            <a:ext cx="9144000" cy="36576"/>
          </a:xfrm>
          <a:prstGeom prst="rect">
            <a:avLst/>
          </a:prstGeom>
          <a:solidFill>
            <a:srgbClr val="3B82F6"/>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6" name="Google Shape;126;p6"/>
          <p:cNvCxnSpPr/>
          <p:nvPr/>
        </p:nvCxnSpPr>
        <p:spPr>
          <a:xfrm>
            <a:off x="9144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127" name="Google Shape;127;p6"/>
          <p:cNvCxnSpPr/>
          <p:nvPr/>
        </p:nvCxnSpPr>
        <p:spPr>
          <a:xfrm>
            <a:off x="18288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128" name="Google Shape;128;p6"/>
          <p:cNvCxnSpPr/>
          <p:nvPr/>
        </p:nvCxnSpPr>
        <p:spPr>
          <a:xfrm>
            <a:off x="27432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129" name="Google Shape;129;p6"/>
          <p:cNvCxnSpPr/>
          <p:nvPr/>
        </p:nvCxnSpPr>
        <p:spPr>
          <a:xfrm>
            <a:off x="36576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130" name="Google Shape;130;p6"/>
          <p:cNvCxnSpPr/>
          <p:nvPr/>
        </p:nvCxnSpPr>
        <p:spPr>
          <a:xfrm>
            <a:off x="45720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131" name="Google Shape;131;p6"/>
          <p:cNvCxnSpPr/>
          <p:nvPr/>
        </p:nvCxnSpPr>
        <p:spPr>
          <a:xfrm>
            <a:off x="54864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132" name="Google Shape;132;p6"/>
          <p:cNvCxnSpPr/>
          <p:nvPr/>
        </p:nvCxnSpPr>
        <p:spPr>
          <a:xfrm>
            <a:off x="64008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133" name="Google Shape;133;p6"/>
          <p:cNvCxnSpPr/>
          <p:nvPr/>
        </p:nvCxnSpPr>
        <p:spPr>
          <a:xfrm>
            <a:off x="73152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134" name="Google Shape;134;p6"/>
          <p:cNvCxnSpPr/>
          <p:nvPr/>
        </p:nvCxnSpPr>
        <p:spPr>
          <a:xfrm>
            <a:off x="8229600" y="0"/>
            <a:ext cx="0" cy="5143500"/>
          </a:xfrm>
          <a:prstGeom prst="straightConnector1">
            <a:avLst/>
          </a:prstGeom>
          <a:noFill/>
          <a:ln cap="flat" cmpd="sng" w="9525">
            <a:solidFill>
              <a:srgbClr val="162035"/>
            </a:solidFill>
            <a:prstDash val="solid"/>
            <a:round/>
            <a:headEnd len="sm" w="sm" type="none"/>
            <a:tailEnd len="sm" w="sm" type="none"/>
          </a:ln>
        </p:spPr>
      </p:cxnSp>
      <p:sp>
        <p:nvSpPr>
          <p:cNvPr id="135" name="Google Shape;135;p6"/>
          <p:cNvSpPr/>
          <p:nvPr/>
        </p:nvSpPr>
        <p:spPr>
          <a:xfrm>
            <a:off x="457200" y="228600"/>
            <a:ext cx="1645920" cy="256032"/>
          </a:xfrm>
          <a:prstGeom prst="rect">
            <a:avLst/>
          </a:prstGeom>
          <a:solidFill>
            <a:srgbClr val="3B82F6">
              <a:alpha val="20000"/>
            </a:srgbClr>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6"/>
          <p:cNvSpPr/>
          <p:nvPr/>
        </p:nvSpPr>
        <p:spPr>
          <a:xfrm>
            <a:off x="457200" y="228600"/>
            <a:ext cx="16459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B82F6"/>
              </a:buClr>
              <a:buSzPts val="800"/>
              <a:buFont typeface="Calibri"/>
              <a:buNone/>
            </a:pPr>
            <a:r>
              <a:rPr b="1" i="0" lang="en-US" sz="1200" u="none" cap="none" strike="noStrike">
                <a:solidFill>
                  <a:srgbClr val="3B82F6"/>
                </a:solidFill>
                <a:latin typeface="Calibri"/>
                <a:ea typeface="Calibri"/>
                <a:cs typeface="Calibri"/>
                <a:sym typeface="Calibri"/>
              </a:rPr>
              <a:t>ARCHITECTURE</a:t>
            </a:r>
            <a:endParaRPr b="0" i="0" sz="1200" u="none" cap="none" strike="noStrike">
              <a:solidFill>
                <a:schemeClr val="dk1"/>
              </a:solidFill>
              <a:latin typeface="Calibri"/>
              <a:ea typeface="Calibri"/>
              <a:cs typeface="Calibri"/>
              <a:sym typeface="Calibri"/>
            </a:endParaRPr>
          </a:p>
        </p:txBody>
      </p:sp>
      <p:sp>
        <p:nvSpPr>
          <p:cNvPr id="137" name="Google Shape;137;p6"/>
          <p:cNvSpPr/>
          <p:nvPr/>
        </p:nvSpPr>
        <p:spPr>
          <a:xfrm>
            <a:off x="457200" y="548640"/>
            <a:ext cx="8229600" cy="5943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Three-Panel Application Design</a:t>
            </a:r>
            <a:endParaRPr b="0" i="0" sz="2200" u="none" cap="none" strike="noStrike">
              <a:solidFill>
                <a:schemeClr val="dk1"/>
              </a:solidFill>
              <a:latin typeface="Calibri"/>
              <a:ea typeface="Calibri"/>
              <a:cs typeface="Calibri"/>
              <a:sym typeface="Calibri"/>
            </a:endParaRPr>
          </a:p>
        </p:txBody>
      </p:sp>
      <p:sp>
        <p:nvSpPr>
          <p:cNvPr id="138" name="Google Shape;138;p6"/>
          <p:cNvSpPr/>
          <p:nvPr/>
        </p:nvSpPr>
        <p:spPr>
          <a:xfrm>
            <a:off x="365760" y="1234440"/>
            <a:ext cx="2651760" cy="3657600"/>
          </a:xfrm>
          <a:prstGeom prst="rect">
            <a:avLst/>
          </a:prstGeom>
          <a:solidFill>
            <a:srgbClr val="0F1A2E"/>
          </a:solidFill>
          <a:ln cap="flat" cmpd="sng" w="12700">
            <a:solidFill>
              <a:srgbClr val="162035"/>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6"/>
          <p:cNvSpPr/>
          <p:nvPr/>
        </p:nvSpPr>
        <p:spPr>
          <a:xfrm>
            <a:off x="365760" y="1234440"/>
            <a:ext cx="2651760" cy="54864"/>
          </a:xfrm>
          <a:prstGeom prst="rect">
            <a:avLst/>
          </a:prstGeom>
          <a:solidFill>
            <a:srgbClr val="14B8A6"/>
          </a:solidFill>
          <a:ln cap="flat" cmpd="sng" w="12700">
            <a:solidFill>
              <a:srgbClr val="14B8A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6"/>
          <p:cNvSpPr/>
          <p:nvPr/>
        </p:nvSpPr>
        <p:spPr>
          <a:xfrm>
            <a:off x="502920" y="1513333"/>
            <a:ext cx="2377500" cy="411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4B8A6"/>
              </a:buClr>
              <a:buSzPts val="1400"/>
              <a:buFont typeface="Trebuchet MS"/>
              <a:buNone/>
            </a:pPr>
            <a:r>
              <a:rPr b="1" i="0" lang="en-US" sz="1400" u="none" cap="none" strike="noStrike">
                <a:solidFill>
                  <a:srgbClr val="14B8A6"/>
                </a:solidFill>
                <a:latin typeface="Trebuchet MS"/>
                <a:ea typeface="Trebuchet MS"/>
                <a:cs typeface="Trebuchet MS"/>
                <a:sym typeface="Trebuchet MS"/>
              </a:rPr>
              <a:t>📊 DASHBOARD</a:t>
            </a:r>
            <a:endParaRPr b="0" i="0" sz="1400" u="none" cap="none" strike="noStrike">
              <a:solidFill>
                <a:schemeClr val="dk1"/>
              </a:solidFill>
              <a:latin typeface="Calibri"/>
              <a:ea typeface="Calibri"/>
              <a:cs typeface="Calibri"/>
              <a:sym typeface="Calibri"/>
            </a:endParaRPr>
          </a:p>
        </p:txBody>
      </p:sp>
      <p:cxnSp>
        <p:nvCxnSpPr>
          <p:cNvPr id="141" name="Google Shape;141;p6"/>
          <p:cNvCxnSpPr/>
          <p:nvPr/>
        </p:nvCxnSpPr>
        <p:spPr>
          <a:xfrm>
            <a:off x="502920" y="2148840"/>
            <a:ext cx="2377440" cy="0"/>
          </a:xfrm>
          <a:prstGeom prst="straightConnector1">
            <a:avLst/>
          </a:prstGeom>
          <a:noFill/>
          <a:ln cap="flat" cmpd="sng" w="9525">
            <a:solidFill>
              <a:srgbClr val="14B8A6">
                <a:alpha val="40000"/>
              </a:srgbClr>
            </a:solidFill>
            <a:prstDash val="solid"/>
            <a:round/>
            <a:headEnd len="sm" w="sm" type="none"/>
            <a:tailEnd len="sm" w="sm" type="none"/>
          </a:ln>
        </p:spPr>
      </p:cxnSp>
      <p:sp>
        <p:nvSpPr>
          <p:cNvPr id="142" name="Google Shape;142;p6"/>
          <p:cNvSpPr/>
          <p:nvPr/>
        </p:nvSpPr>
        <p:spPr>
          <a:xfrm>
            <a:off x="502920" y="2240280"/>
            <a:ext cx="2377440" cy="2468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Live KPI cards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40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Constraint rate charts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40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Part &amp; DC summary tables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40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Order volume timeline</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40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Top constrained orders</a:t>
            </a:r>
            <a:endParaRPr b="0" i="0" sz="1200" u="none" cap="none" strike="noStrike">
              <a:solidFill>
                <a:schemeClr val="dk1"/>
              </a:solidFill>
              <a:latin typeface="Calibri"/>
              <a:ea typeface="Calibri"/>
              <a:cs typeface="Calibri"/>
              <a:sym typeface="Calibri"/>
            </a:endParaRPr>
          </a:p>
        </p:txBody>
      </p:sp>
      <p:sp>
        <p:nvSpPr>
          <p:cNvPr id="143" name="Google Shape;143;p6"/>
          <p:cNvSpPr/>
          <p:nvPr/>
        </p:nvSpPr>
        <p:spPr>
          <a:xfrm>
            <a:off x="3200400" y="1234440"/>
            <a:ext cx="2651760" cy="3657600"/>
          </a:xfrm>
          <a:prstGeom prst="rect">
            <a:avLst/>
          </a:prstGeom>
          <a:solidFill>
            <a:srgbClr val="0F1A2E"/>
          </a:solidFill>
          <a:ln cap="flat" cmpd="sng" w="12700">
            <a:solidFill>
              <a:srgbClr val="162035"/>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6"/>
          <p:cNvSpPr/>
          <p:nvPr/>
        </p:nvSpPr>
        <p:spPr>
          <a:xfrm>
            <a:off x="3200400" y="1234440"/>
            <a:ext cx="2651760" cy="54864"/>
          </a:xfrm>
          <a:prstGeom prst="rect">
            <a:avLst/>
          </a:prstGeom>
          <a:solidFill>
            <a:srgbClr val="3B82F6"/>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6"/>
          <p:cNvSpPr/>
          <p:nvPr/>
        </p:nvSpPr>
        <p:spPr>
          <a:xfrm>
            <a:off x="3337535" y="1513283"/>
            <a:ext cx="2377500" cy="411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B82F6"/>
              </a:buClr>
              <a:buSzPts val="1400"/>
              <a:buFont typeface="Trebuchet MS"/>
              <a:buNone/>
            </a:pPr>
            <a:r>
              <a:rPr b="1" i="0" lang="en-US" sz="1400" u="none" cap="none" strike="noStrike">
                <a:solidFill>
                  <a:srgbClr val="3B82F6"/>
                </a:solidFill>
                <a:latin typeface="Trebuchet MS"/>
                <a:ea typeface="Trebuchet MS"/>
                <a:cs typeface="Trebuchet MS"/>
                <a:sym typeface="Trebuchet MS"/>
              </a:rPr>
              <a:t>💬 AI CHAT</a:t>
            </a:r>
            <a:endParaRPr b="0" i="0" sz="1400" u="none" cap="none" strike="noStrike">
              <a:solidFill>
                <a:schemeClr val="dk1"/>
              </a:solidFill>
              <a:latin typeface="Calibri"/>
              <a:ea typeface="Calibri"/>
              <a:cs typeface="Calibri"/>
              <a:sym typeface="Calibri"/>
            </a:endParaRPr>
          </a:p>
        </p:txBody>
      </p:sp>
      <p:cxnSp>
        <p:nvCxnSpPr>
          <p:cNvPr id="146" name="Google Shape;146;p6"/>
          <p:cNvCxnSpPr/>
          <p:nvPr/>
        </p:nvCxnSpPr>
        <p:spPr>
          <a:xfrm>
            <a:off x="3337560" y="2148840"/>
            <a:ext cx="2377440" cy="0"/>
          </a:xfrm>
          <a:prstGeom prst="straightConnector1">
            <a:avLst/>
          </a:prstGeom>
          <a:noFill/>
          <a:ln cap="flat" cmpd="sng" w="9525">
            <a:solidFill>
              <a:srgbClr val="3B82F6">
                <a:alpha val="40000"/>
              </a:srgbClr>
            </a:solidFill>
            <a:prstDash val="solid"/>
            <a:round/>
            <a:headEnd len="sm" w="sm" type="none"/>
            <a:tailEnd len="sm" w="sm" type="none"/>
          </a:ln>
        </p:spPr>
      </p:cxnSp>
      <p:sp>
        <p:nvSpPr>
          <p:cNvPr id="147" name="Google Shape;147;p6"/>
          <p:cNvSpPr/>
          <p:nvPr/>
        </p:nvSpPr>
        <p:spPr>
          <a:xfrm>
            <a:off x="3337560" y="2240280"/>
            <a:ext cx="2377440" cy="2468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E2E8F0"/>
                </a:solidFill>
                <a:latin typeface="Calibri"/>
                <a:ea typeface="Calibri"/>
                <a:cs typeface="Calibri"/>
                <a:sym typeface="Calibri"/>
              </a:rPr>
              <a:t>Natural language queries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200"/>
              <a:buFont typeface="Arial"/>
              <a:buNone/>
            </a:pPr>
            <a:r>
              <a:rPr b="0" i="0" lang="en-US" sz="1200" u="none" cap="none" strike="noStrike">
                <a:solidFill>
                  <a:srgbClr val="E2E8F0"/>
                </a:solidFill>
                <a:latin typeface="Calibri"/>
                <a:ea typeface="Calibri"/>
                <a:cs typeface="Calibri"/>
                <a:sym typeface="Calibri"/>
              </a:rPr>
              <a:t>Understand the data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200"/>
              <a:buFont typeface="Arial"/>
              <a:buNone/>
            </a:pPr>
            <a:r>
              <a:rPr b="0" i="0" lang="en-US" sz="1200" u="none" cap="none" strike="noStrike">
                <a:solidFill>
                  <a:srgbClr val="E2E8F0"/>
                </a:solidFill>
                <a:latin typeface="Calibri"/>
                <a:ea typeface="Calibri"/>
                <a:cs typeface="Calibri"/>
                <a:sym typeface="Calibri"/>
              </a:rPr>
              <a:t>Reason through the data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200"/>
              <a:buFont typeface="Arial"/>
              <a:buNone/>
            </a:pPr>
            <a:r>
              <a:rPr b="0" i="0" lang="en-US" sz="1200" u="none" cap="none" strike="noStrike">
                <a:solidFill>
                  <a:srgbClr val="E2E8F0"/>
                </a:solidFill>
                <a:latin typeface="Calibri"/>
                <a:ea typeface="Calibri"/>
                <a:cs typeface="Calibri"/>
                <a:sym typeface="Calibri"/>
              </a:rPr>
              <a:t>Provide potential solutions</a:t>
            </a:r>
            <a:endParaRPr b="0" i="0" sz="1200" u="none" cap="none" strike="noStrike">
              <a:solidFill>
                <a:srgbClr val="E2E8F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200"/>
              <a:buFont typeface="Arial"/>
              <a:buNone/>
            </a:pPr>
            <a:r>
              <a:rPr b="0" i="0" lang="en-US" sz="1200" u="none" cap="none" strike="noStrike">
                <a:solidFill>
                  <a:srgbClr val="E2E8F0"/>
                </a:solidFill>
                <a:latin typeface="Calibri"/>
                <a:ea typeface="Calibri"/>
                <a:cs typeface="Calibri"/>
                <a:sym typeface="Calibri"/>
              </a:rPr>
              <a:t>Operational queries</a:t>
            </a:r>
            <a:endParaRPr b="0" i="0" sz="1200" u="none" cap="none" strike="noStrike">
              <a:solidFill>
                <a:srgbClr val="E2E8F0"/>
              </a:solidFill>
              <a:latin typeface="Calibri"/>
              <a:ea typeface="Calibri"/>
              <a:cs typeface="Calibri"/>
              <a:sym typeface="Calibri"/>
            </a:endParaRPr>
          </a:p>
        </p:txBody>
      </p:sp>
      <p:sp>
        <p:nvSpPr>
          <p:cNvPr id="148" name="Google Shape;148;p6"/>
          <p:cNvSpPr/>
          <p:nvPr/>
        </p:nvSpPr>
        <p:spPr>
          <a:xfrm>
            <a:off x="6035040" y="1234440"/>
            <a:ext cx="2651760" cy="3657600"/>
          </a:xfrm>
          <a:prstGeom prst="rect">
            <a:avLst/>
          </a:prstGeom>
          <a:solidFill>
            <a:srgbClr val="0F1A2E"/>
          </a:solidFill>
          <a:ln cap="flat" cmpd="sng" w="12700">
            <a:solidFill>
              <a:srgbClr val="162035"/>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6"/>
          <p:cNvSpPr/>
          <p:nvPr/>
        </p:nvSpPr>
        <p:spPr>
          <a:xfrm>
            <a:off x="6035040" y="1234440"/>
            <a:ext cx="2651760" cy="54864"/>
          </a:xfrm>
          <a:prstGeom prst="rect">
            <a:avLst/>
          </a:prstGeom>
          <a:solidFill>
            <a:srgbClr val="8B5CF6"/>
          </a:solidFill>
          <a:ln cap="flat" cmpd="sng" w="1270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6"/>
          <p:cNvSpPr/>
          <p:nvPr/>
        </p:nvSpPr>
        <p:spPr>
          <a:xfrm>
            <a:off x="6172125" y="1513283"/>
            <a:ext cx="2377500" cy="411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B5CF6"/>
              </a:buClr>
              <a:buSzPts val="1400"/>
              <a:buFont typeface="Trebuchet MS"/>
              <a:buNone/>
            </a:pPr>
            <a:r>
              <a:rPr b="1" i="0" lang="en-US" sz="1400" u="none" cap="none" strike="noStrike">
                <a:solidFill>
                  <a:srgbClr val="8B5CF6"/>
                </a:solidFill>
                <a:latin typeface="Trebuchet MS"/>
                <a:ea typeface="Trebuchet MS"/>
                <a:cs typeface="Trebuchet MS"/>
                <a:sym typeface="Trebuchet MS"/>
              </a:rPr>
              <a:t>⚡ SCENARIO SIM</a:t>
            </a:r>
            <a:endParaRPr b="0" i="0" sz="1400" u="none" cap="none" strike="noStrike">
              <a:solidFill>
                <a:schemeClr val="dk1"/>
              </a:solidFill>
              <a:latin typeface="Calibri"/>
              <a:ea typeface="Calibri"/>
              <a:cs typeface="Calibri"/>
              <a:sym typeface="Calibri"/>
            </a:endParaRPr>
          </a:p>
        </p:txBody>
      </p:sp>
      <p:cxnSp>
        <p:nvCxnSpPr>
          <p:cNvPr id="151" name="Google Shape;151;p6"/>
          <p:cNvCxnSpPr/>
          <p:nvPr/>
        </p:nvCxnSpPr>
        <p:spPr>
          <a:xfrm>
            <a:off x="6172200" y="2148840"/>
            <a:ext cx="2377440" cy="0"/>
          </a:xfrm>
          <a:prstGeom prst="straightConnector1">
            <a:avLst/>
          </a:prstGeom>
          <a:noFill/>
          <a:ln cap="flat" cmpd="sng" w="9525">
            <a:solidFill>
              <a:srgbClr val="8B5CF6">
                <a:alpha val="40000"/>
              </a:srgbClr>
            </a:solidFill>
            <a:prstDash val="solid"/>
            <a:round/>
            <a:headEnd len="sm" w="sm" type="none"/>
            <a:tailEnd len="sm" w="sm" type="none"/>
          </a:ln>
        </p:spPr>
      </p:cxnSp>
      <p:sp>
        <p:nvSpPr>
          <p:cNvPr id="152" name="Google Shape;152;p6"/>
          <p:cNvSpPr/>
          <p:nvPr/>
        </p:nvSpPr>
        <p:spPr>
          <a:xfrm>
            <a:off x="6172200" y="2240280"/>
            <a:ext cx="2377440" cy="2468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Add inventory changes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40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Before vs after comparison</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40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Part-wise  impact breakdown</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40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Newly resolved orders list</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40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Generate a summary</a:t>
            </a:r>
            <a:endParaRPr b="0" i="0" sz="1200" u="none" cap="none" strike="noStrike">
              <a:solidFill>
                <a:schemeClr val="dk1"/>
              </a:solidFill>
              <a:latin typeface="Calibri"/>
              <a:ea typeface="Calibri"/>
              <a:cs typeface="Calibri"/>
              <a:sym typeface="Calibri"/>
            </a:endParaRPr>
          </a:p>
        </p:txBody>
      </p:sp>
      <p:sp>
        <p:nvSpPr>
          <p:cNvPr id="153" name="Google Shape;153;p6"/>
          <p:cNvSpPr/>
          <p:nvPr/>
        </p:nvSpPr>
        <p:spPr>
          <a:xfrm>
            <a:off x="365760" y="4663440"/>
            <a:ext cx="8412480" cy="320040"/>
          </a:xfrm>
          <a:prstGeom prst="rect">
            <a:avLst/>
          </a:prstGeom>
          <a:solidFill>
            <a:srgbClr val="0F1A2E"/>
          </a:solidFill>
          <a:ln cap="flat" cmpd="sng" w="12700">
            <a:solidFill>
              <a:srgbClr val="162035"/>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6"/>
          <p:cNvSpPr/>
          <p:nvPr/>
        </p:nvSpPr>
        <p:spPr>
          <a:xfrm>
            <a:off x="365760" y="4663440"/>
            <a:ext cx="8412480" cy="54864"/>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6"/>
          <p:cNvSpPr/>
          <p:nvPr/>
        </p:nvSpPr>
        <p:spPr>
          <a:xfrm>
            <a:off x="502920" y="4663440"/>
            <a:ext cx="8229600"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9E0B"/>
              </a:buClr>
              <a:buSzPts val="1100"/>
              <a:buFont typeface="Consolas"/>
              <a:buNone/>
            </a:pPr>
            <a:r>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B14"/>
        </a:solidFill>
      </p:bgPr>
    </p:bg>
    <p:spTree>
      <p:nvGrpSpPr>
        <p:cNvPr id="160" name="Shape 160"/>
        <p:cNvGrpSpPr/>
        <p:nvPr/>
      </p:nvGrpSpPr>
      <p:grpSpPr>
        <a:xfrm>
          <a:off x="0" y="0"/>
          <a:ext cx="0" cy="0"/>
          <a:chOff x="0" y="0"/>
          <a:chExt cx="0" cy="0"/>
        </a:xfrm>
      </p:grpSpPr>
      <p:sp>
        <p:nvSpPr>
          <p:cNvPr id="161" name="Google Shape;161;p7"/>
          <p:cNvSpPr/>
          <p:nvPr/>
        </p:nvSpPr>
        <p:spPr>
          <a:xfrm>
            <a:off x="0" y="0"/>
            <a:ext cx="9144000" cy="36576"/>
          </a:xfrm>
          <a:prstGeom prst="rect">
            <a:avLst/>
          </a:prstGeom>
          <a:solidFill>
            <a:srgbClr val="34D399"/>
          </a:solidFill>
          <a:ln cap="flat" cmpd="sng" w="12700">
            <a:solidFill>
              <a:srgbClr val="34D3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62" name="Google Shape;162;p7"/>
          <p:cNvCxnSpPr/>
          <p:nvPr/>
        </p:nvCxnSpPr>
        <p:spPr>
          <a:xfrm>
            <a:off x="9144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163" name="Google Shape;163;p7"/>
          <p:cNvCxnSpPr/>
          <p:nvPr/>
        </p:nvCxnSpPr>
        <p:spPr>
          <a:xfrm>
            <a:off x="18288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164" name="Google Shape;164;p7"/>
          <p:cNvCxnSpPr/>
          <p:nvPr/>
        </p:nvCxnSpPr>
        <p:spPr>
          <a:xfrm>
            <a:off x="27432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165" name="Google Shape;165;p7"/>
          <p:cNvCxnSpPr/>
          <p:nvPr/>
        </p:nvCxnSpPr>
        <p:spPr>
          <a:xfrm>
            <a:off x="36576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166" name="Google Shape;166;p7"/>
          <p:cNvCxnSpPr/>
          <p:nvPr/>
        </p:nvCxnSpPr>
        <p:spPr>
          <a:xfrm>
            <a:off x="45720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167" name="Google Shape;167;p7"/>
          <p:cNvCxnSpPr/>
          <p:nvPr/>
        </p:nvCxnSpPr>
        <p:spPr>
          <a:xfrm>
            <a:off x="54864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168" name="Google Shape;168;p7"/>
          <p:cNvCxnSpPr/>
          <p:nvPr/>
        </p:nvCxnSpPr>
        <p:spPr>
          <a:xfrm>
            <a:off x="64008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169" name="Google Shape;169;p7"/>
          <p:cNvCxnSpPr/>
          <p:nvPr/>
        </p:nvCxnSpPr>
        <p:spPr>
          <a:xfrm>
            <a:off x="73152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170" name="Google Shape;170;p7"/>
          <p:cNvCxnSpPr/>
          <p:nvPr/>
        </p:nvCxnSpPr>
        <p:spPr>
          <a:xfrm>
            <a:off x="8229600" y="0"/>
            <a:ext cx="0" cy="5143500"/>
          </a:xfrm>
          <a:prstGeom prst="straightConnector1">
            <a:avLst/>
          </a:prstGeom>
          <a:noFill/>
          <a:ln cap="flat" cmpd="sng" w="9525">
            <a:solidFill>
              <a:srgbClr val="162035"/>
            </a:solidFill>
            <a:prstDash val="solid"/>
            <a:round/>
            <a:headEnd len="sm" w="sm" type="none"/>
            <a:tailEnd len="sm" w="sm" type="none"/>
          </a:ln>
        </p:spPr>
      </p:cxnSp>
      <p:sp>
        <p:nvSpPr>
          <p:cNvPr id="171" name="Google Shape;171;p7"/>
          <p:cNvSpPr/>
          <p:nvPr/>
        </p:nvSpPr>
        <p:spPr>
          <a:xfrm>
            <a:off x="457200" y="228600"/>
            <a:ext cx="1645920" cy="256032"/>
          </a:xfrm>
          <a:prstGeom prst="rect">
            <a:avLst/>
          </a:prstGeom>
          <a:solidFill>
            <a:srgbClr val="34D399">
              <a:alpha val="20000"/>
            </a:srgbClr>
          </a:solidFill>
          <a:ln cap="flat" cmpd="sng" w="12700">
            <a:solidFill>
              <a:srgbClr val="34D3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7"/>
          <p:cNvSpPr/>
          <p:nvPr/>
        </p:nvSpPr>
        <p:spPr>
          <a:xfrm>
            <a:off x="457200" y="228600"/>
            <a:ext cx="16459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4D399"/>
              </a:buClr>
              <a:buSzPts val="800"/>
              <a:buFont typeface="Calibri"/>
              <a:buNone/>
            </a:pPr>
            <a:r>
              <a:rPr b="1" i="0" lang="en-US" sz="1200" u="none" cap="none" strike="noStrike">
                <a:solidFill>
                  <a:srgbClr val="34D399"/>
                </a:solidFill>
                <a:latin typeface="Calibri"/>
                <a:ea typeface="Calibri"/>
                <a:cs typeface="Calibri"/>
                <a:sym typeface="Calibri"/>
              </a:rPr>
              <a:t>THE ALGORITHM</a:t>
            </a:r>
            <a:endParaRPr b="0" i="0" sz="1200" u="none" cap="none" strike="noStrike">
              <a:solidFill>
                <a:schemeClr val="dk1"/>
              </a:solidFill>
              <a:latin typeface="Calibri"/>
              <a:ea typeface="Calibri"/>
              <a:cs typeface="Calibri"/>
              <a:sym typeface="Calibri"/>
            </a:endParaRPr>
          </a:p>
        </p:txBody>
      </p:sp>
      <p:sp>
        <p:nvSpPr>
          <p:cNvPr id="173" name="Google Shape;173;p7"/>
          <p:cNvSpPr/>
          <p:nvPr/>
        </p:nvSpPr>
        <p:spPr>
          <a:xfrm>
            <a:off x="457200" y="411480"/>
            <a:ext cx="4754880" cy="5943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3000"/>
              <a:buFont typeface="Trebuchet MS"/>
              <a:buNone/>
            </a:pPr>
            <a:r>
              <a:rPr b="1" i="0" lang="en-US" sz="2900" u="none" cap="none" strike="noStrike">
                <a:solidFill>
                  <a:srgbClr val="FFFFFF"/>
                </a:solidFill>
                <a:latin typeface="Trebuchet MS"/>
                <a:ea typeface="Trebuchet MS"/>
                <a:cs typeface="Trebuchet MS"/>
                <a:sym typeface="Trebuchet MS"/>
              </a:rPr>
              <a:t>FIFO Constraint Algorithm</a:t>
            </a:r>
            <a:endParaRPr b="0" i="0" sz="2900" u="none" cap="none" strike="noStrike">
              <a:solidFill>
                <a:schemeClr val="dk1"/>
              </a:solidFill>
              <a:latin typeface="Calibri"/>
              <a:ea typeface="Calibri"/>
              <a:cs typeface="Calibri"/>
              <a:sym typeface="Calibri"/>
            </a:endParaRPr>
          </a:p>
        </p:txBody>
      </p:sp>
      <p:sp>
        <p:nvSpPr>
          <p:cNvPr id="174" name="Google Shape;174;p7"/>
          <p:cNvSpPr/>
          <p:nvPr/>
        </p:nvSpPr>
        <p:spPr>
          <a:xfrm>
            <a:off x="457200" y="1161288"/>
            <a:ext cx="384048" cy="384048"/>
          </a:xfrm>
          <a:prstGeom prst="ellipse">
            <a:avLst/>
          </a:prstGeom>
          <a:solidFill>
            <a:srgbClr val="38BDF8"/>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7"/>
          <p:cNvSpPr/>
          <p:nvPr/>
        </p:nvSpPr>
        <p:spPr>
          <a:xfrm>
            <a:off x="457200" y="1161288"/>
            <a:ext cx="384048"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50B14"/>
              </a:buClr>
              <a:buSzPts val="1400"/>
              <a:buFont typeface="Trebuchet MS"/>
              <a:buNone/>
            </a:pPr>
            <a:r>
              <a:rPr b="1" i="0" lang="en-US" sz="1400" u="none" cap="none" strike="noStrike">
                <a:solidFill>
                  <a:srgbClr val="050B14"/>
                </a:solidFill>
                <a:latin typeface="Trebuchet MS"/>
                <a:ea typeface="Trebuchet MS"/>
                <a:cs typeface="Trebuchet MS"/>
                <a:sym typeface="Trebuchet MS"/>
              </a:rPr>
              <a:t>1</a:t>
            </a:r>
            <a:endParaRPr b="0" i="0" sz="1400" u="none" cap="none" strike="noStrike">
              <a:solidFill>
                <a:schemeClr val="dk1"/>
              </a:solidFill>
              <a:latin typeface="Calibri"/>
              <a:ea typeface="Calibri"/>
              <a:cs typeface="Calibri"/>
              <a:sym typeface="Calibri"/>
            </a:endParaRPr>
          </a:p>
        </p:txBody>
      </p:sp>
      <p:sp>
        <p:nvSpPr>
          <p:cNvPr id="176" name="Google Shape;176;p7"/>
          <p:cNvSpPr/>
          <p:nvPr/>
        </p:nvSpPr>
        <p:spPr>
          <a:xfrm>
            <a:off x="960120" y="1143000"/>
            <a:ext cx="42062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8BDF8"/>
              </a:buClr>
              <a:buSzPts val="1300"/>
              <a:buFont typeface="Trebuchet MS"/>
              <a:buNone/>
            </a:pPr>
            <a:r>
              <a:rPr b="1" i="0" lang="en-US" sz="1300" u="none" cap="none" strike="noStrike">
                <a:solidFill>
                  <a:srgbClr val="38BDF8"/>
                </a:solidFill>
                <a:latin typeface="Trebuchet MS"/>
                <a:ea typeface="Trebuchet MS"/>
                <a:cs typeface="Trebuchet MS"/>
                <a:sym typeface="Trebuchet MS"/>
              </a:rPr>
              <a:t>Sort Orders Globally by Date</a:t>
            </a:r>
            <a:endParaRPr b="0" i="0" sz="1300" u="none" cap="none" strike="noStrike">
              <a:solidFill>
                <a:schemeClr val="dk1"/>
              </a:solidFill>
              <a:latin typeface="Calibri"/>
              <a:ea typeface="Calibri"/>
              <a:cs typeface="Calibri"/>
              <a:sym typeface="Calibri"/>
            </a:endParaRPr>
          </a:p>
        </p:txBody>
      </p:sp>
      <p:sp>
        <p:nvSpPr>
          <p:cNvPr id="177" name="Google Shape;177;p7"/>
          <p:cNvSpPr/>
          <p:nvPr/>
        </p:nvSpPr>
        <p:spPr>
          <a:xfrm>
            <a:off x="960120" y="1417320"/>
            <a:ext cx="4206240" cy="38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Oldest orders get first allocation priority , true FIFO across all warehouses and parts.</a:t>
            </a:r>
            <a:endParaRPr b="0" i="0" sz="1100" u="none" cap="none" strike="noStrike">
              <a:solidFill>
                <a:schemeClr val="dk1"/>
              </a:solidFill>
              <a:latin typeface="Calibri"/>
              <a:ea typeface="Calibri"/>
              <a:cs typeface="Calibri"/>
              <a:sym typeface="Calibri"/>
            </a:endParaRPr>
          </a:p>
        </p:txBody>
      </p:sp>
      <p:sp>
        <p:nvSpPr>
          <p:cNvPr id="178" name="Google Shape;178;p7"/>
          <p:cNvSpPr/>
          <p:nvPr/>
        </p:nvSpPr>
        <p:spPr>
          <a:xfrm>
            <a:off x="457200" y="1920240"/>
            <a:ext cx="384048" cy="384048"/>
          </a:xfrm>
          <a:prstGeom prst="ellipse">
            <a:avLst/>
          </a:prstGeom>
          <a:solidFill>
            <a:srgbClr val="A78BFA"/>
          </a:solidFill>
          <a:ln cap="flat" cmpd="sng" w="12700">
            <a:solidFill>
              <a:srgbClr val="A78B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7"/>
          <p:cNvSpPr/>
          <p:nvPr/>
        </p:nvSpPr>
        <p:spPr>
          <a:xfrm>
            <a:off x="457200" y="1920240"/>
            <a:ext cx="384048"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50B14"/>
              </a:buClr>
              <a:buSzPts val="1400"/>
              <a:buFont typeface="Trebuchet MS"/>
              <a:buNone/>
            </a:pPr>
            <a:r>
              <a:rPr b="1" i="0" lang="en-US" sz="1400" u="none" cap="none" strike="noStrike">
                <a:solidFill>
                  <a:srgbClr val="050B14"/>
                </a:solidFill>
                <a:latin typeface="Trebuchet MS"/>
                <a:ea typeface="Trebuchet MS"/>
                <a:cs typeface="Trebuchet MS"/>
                <a:sym typeface="Trebuchet MS"/>
              </a:rPr>
              <a:t>2</a:t>
            </a:r>
            <a:endParaRPr b="0" i="0" sz="1400" u="none" cap="none" strike="noStrike">
              <a:solidFill>
                <a:schemeClr val="dk1"/>
              </a:solidFill>
              <a:latin typeface="Calibri"/>
              <a:ea typeface="Calibri"/>
              <a:cs typeface="Calibri"/>
              <a:sym typeface="Calibri"/>
            </a:endParaRPr>
          </a:p>
        </p:txBody>
      </p:sp>
      <p:sp>
        <p:nvSpPr>
          <p:cNvPr id="180" name="Google Shape;180;p7"/>
          <p:cNvSpPr/>
          <p:nvPr/>
        </p:nvSpPr>
        <p:spPr>
          <a:xfrm>
            <a:off x="960120" y="1901952"/>
            <a:ext cx="42062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78BFA"/>
              </a:buClr>
              <a:buSzPts val="1300"/>
              <a:buFont typeface="Trebuchet MS"/>
              <a:buNone/>
            </a:pPr>
            <a:r>
              <a:rPr b="1" i="0" lang="en-US" sz="1300" u="none" cap="none" strike="noStrike">
                <a:solidFill>
                  <a:srgbClr val="A78BFA"/>
                </a:solidFill>
                <a:latin typeface="Trebuchet MS"/>
                <a:ea typeface="Trebuchet MS"/>
                <a:cs typeface="Trebuchet MS"/>
                <a:sym typeface="Trebuchet MS"/>
              </a:rPr>
              <a:t>Build Compatibility Chain</a:t>
            </a:r>
            <a:endParaRPr b="0" i="0" sz="1300" u="none" cap="none" strike="noStrike">
              <a:solidFill>
                <a:schemeClr val="dk1"/>
              </a:solidFill>
              <a:latin typeface="Calibri"/>
              <a:ea typeface="Calibri"/>
              <a:cs typeface="Calibri"/>
              <a:sym typeface="Calibri"/>
            </a:endParaRPr>
          </a:p>
        </p:txBody>
      </p:sp>
      <p:sp>
        <p:nvSpPr>
          <p:cNvPr id="181" name="Google Shape;181;p7"/>
          <p:cNvSpPr/>
          <p:nvPr/>
        </p:nvSpPr>
        <p:spPr>
          <a:xfrm>
            <a:off x="960120" y="2176272"/>
            <a:ext cx="4206240" cy="38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For each order: [Requested Part, Compatible Part 1, Compatible Part 2, Part 3, …..]</a:t>
            </a:r>
            <a:endParaRPr b="0" i="0" sz="1100" u="none" cap="none" strike="noStrike">
              <a:solidFill>
                <a:schemeClr val="dk1"/>
              </a:solidFill>
              <a:latin typeface="Calibri"/>
              <a:ea typeface="Calibri"/>
              <a:cs typeface="Calibri"/>
              <a:sym typeface="Calibri"/>
            </a:endParaRPr>
          </a:p>
        </p:txBody>
      </p:sp>
      <p:sp>
        <p:nvSpPr>
          <p:cNvPr id="182" name="Google Shape;182;p7"/>
          <p:cNvSpPr/>
          <p:nvPr/>
        </p:nvSpPr>
        <p:spPr>
          <a:xfrm>
            <a:off x="457200" y="2679192"/>
            <a:ext cx="384048" cy="384048"/>
          </a:xfrm>
          <a:prstGeom prst="ellipse">
            <a:avLst/>
          </a:prstGeom>
          <a:solidFill>
            <a:srgbClr val="34D399"/>
          </a:solidFill>
          <a:ln cap="flat" cmpd="sng" w="12700">
            <a:solidFill>
              <a:srgbClr val="34D3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7"/>
          <p:cNvSpPr/>
          <p:nvPr/>
        </p:nvSpPr>
        <p:spPr>
          <a:xfrm>
            <a:off x="457200" y="2679192"/>
            <a:ext cx="384048"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50B14"/>
              </a:buClr>
              <a:buSzPts val="1400"/>
              <a:buFont typeface="Trebuchet MS"/>
              <a:buNone/>
            </a:pPr>
            <a:r>
              <a:rPr b="1" i="0" lang="en-US" sz="1400" u="none" cap="none" strike="noStrike">
                <a:solidFill>
                  <a:srgbClr val="050B14"/>
                </a:solidFill>
                <a:latin typeface="Trebuchet MS"/>
                <a:ea typeface="Trebuchet MS"/>
                <a:cs typeface="Trebuchet MS"/>
                <a:sym typeface="Trebuchet MS"/>
              </a:rPr>
              <a:t>3</a:t>
            </a:r>
            <a:endParaRPr b="0" i="0" sz="1400" u="none" cap="none" strike="noStrike">
              <a:solidFill>
                <a:schemeClr val="dk1"/>
              </a:solidFill>
              <a:latin typeface="Calibri"/>
              <a:ea typeface="Calibri"/>
              <a:cs typeface="Calibri"/>
              <a:sym typeface="Calibri"/>
            </a:endParaRPr>
          </a:p>
        </p:txBody>
      </p:sp>
      <p:sp>
        <p:nvSpPr>
          <p:cNvPr id="184" name="Google Shape;184;p7"/>
          <p:cNvSpPr/>
          <p:nvPr/>
        </p:nvSpPr>
        <p:spPr>
          <a:xfrm>
            <a:off x="960120" y="2660904"/>
            <a:ext cx="42062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4D399"/>
              </a:buClr>
              <a:buSzPts val="1300"/>
              <a:buFont typeface="Trebuchet MS"/>
              <a:buNone/>
            </a:pPr>
            <a:r>
              <a:rPr b="1" i="0" lang="en-US" sz="1300" u="none" cap="none" strike="noStrike">
                <a:solidFill>
                  <a:srgbClr val="34D399"/>
                </a:solidFill>
                <a:latin typeface="Trebuchet MS"/>
                <a:ea typeface="Trebuchet MS"/>
                <a:cs typeface="Trebuchet MS"/>
                <a:sym typeface="Trebuchet MS"/>
              </a:rPr>
              <a:t>Check Fulfiller Warehouse</a:t>
            </a:r>
            <a:endParaRPr b="0" i="0" sz="1300" u="none" cap="none" strike="noStrike">
              <a:solidFill>
                <a:schemeClr val="dk1"/>
              </a:solidFill>
              <a:latin typeface="Calibri"/>
              <a:ea typeface="Calibri"/>
              <a:cs typeface="Calibri"/>
              <a:sym typeface="Calibri"/>
            </a:endParaRPr>
          </a:p>
        </p:txBody>
      </p:sp>
      <p:sp>
        <p:nvSpPr>
          <p:cNvPr id="185" name="Google Shape;185;p7"/>
          <p:cNvSpPr/>
          <p:nvPr/>
        </p:nvSpPr>
        <p:spPr>
          <a:xfrm>
            <a:off x="960120" y="2935224"/>
            <a:ext cx="4206240" cy="38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Walk the chain , if any part has enough stock at the fulfiller WH, deduct and resolve.</a:t>
            </a:r>
            <a:endParaRPr b="0" i="0" sz="1100" u="none" cap="none" strike="noStrike">
              <a:solidFill>
                <a:schemeClr val="dk1"/>
              </a:solidFill>
              <a:latin typeface="Calibri"/>
              <a:ea typeface="Calibri"/>
              <a:cs typeface="Calibri"/>
              <a:sym typeface="Calibri"/>
            </a:endParaRPr>
          </a:p>
        </p:txBody>
      </p:sp>
      <p:sp>
        <p:nvSpPr>
          <p:cNvPr id="186" name="Google Shape;186;p7"/>
          <p:cNvSpPr/>
          <p:nvPr/>
        </p:nvSpPr>
        <p:spPr>
          <a:xfrm>
            <a:off x="457200" y="3438144"/>
            <a:ext cx="384048" cy="384048"/>
          </a:xfrm>
          <a:prstGeom prst="ellipse">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7"/>
          <p:cNvSpPr/>
          <p:nvPr/>
        </p:nvSpPr>
        <p:spPr>
          <a:xfrm>
            <a:off x="457200" y="3438144"/>
            <a:ext cx="384048"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50B14"/>
              </a:buClr>
              <a:buSzPts val="1400"/>
              <a:buFont typeface="Trebuchet MS"/>
              <a:buNone/>
            </a:pPr>
            <a:r>
              <a:rPr b="1" i="0" lang="en-US" sz="1400" u="none" cap="none" strike="noStrike">
                <a:solidFill>
                  <a:srgbClr val="050B14"/>
                </a:solidFill>
                <a:latin typeface="Trebuchet MS"/>
                <a:ea typeface="Trebuchet MS"/>
                <a:cs typeface="Trebuchet MS"/>
                <a:sym typeface="Trebuchet MS"/>
              </a:rPr>
              <a:t>4</a:t>
            </a:r>
            <a:endParaRPr b="0" i="0" sz="1400" u="none" cap="none" strike="noStrike">
              <a:solidFill>
                <a:schemeClr val="dk1"/>
              </a:solidFill>
              <a:latin typeface="Calibri"/>
              <a:ea typeface="Calibri"/>
              <a:cs typeface="Calibri"/>
              <a:sym typeface="Calibri"/>
            </a:endParaRPr>
          </a:p>
        </p:txBody>
      </p:sp>
      <p:sp>
        <p:nvSpPr>
          <p:cNvPr id="188" name="Google Shape;188;p7"/>
          <p:cNvSpPr/>
          <p:nvPr/>
        </p:nvSpPr>
        <p:spPr>
          <a:xfrm>
            <a:off x="960120" y="3419856"/>
            <a:ext cx="42062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300"/>
              <a:buFont typeface="Trebuchet MS"/>
              <a:buNone/>
            </a:pPr>
            <a:r>
              <a:rPr b="1" i="0" lang="en-US" sz="1300" u="none" cap="none" strike="noStrike">
                <a:solidFill>
                  <a:srgbClr val="F59E0B"/>
                </a:solidFill>
                <a:latin typeface="Trebuchet MS"/>
                <a:ea typeface="Trebuchet MS"/>
                <a:cs typeface="Trebuchet MS"/>
                <a:sym typeface="Trebuchet MS"/>
              </a:rPr>
              <a:t>Check Parent DC</a:t>
            </a:r>
            <a:endParaRPr b="0" i="0" sz="1300" u="none" cap="none" strike="noStrike">
              <a:solidFill>
                <a:schemeClr val="dk1"/>
              </a:solidFill>
              <a:latin typeface="Calibri"/>
              <a:ea typeface="Calibri"/>
              <a:cs typeface="Calibri"/>
              <a:sym typeface="Calibri"/>
            </a:endParaRPr>
          </a:p>
        </p:txBody>
      </p:sp>
      <p:sp>
        <p:nvSpPr>
          <p:cNvPr id="189" name="Google Shape;189;p7"/>
          <p:cNvSpPr/>
          <p:nvPr/>
        </p:nvSpPr>
        <p:spPr>
          <a:xfrm>
            <a:off x="960120" y="3694176"/>
            <a:ext cx="4206240" cy="38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If not found locally, check the parent DC (WH-1 for WH-2; WH-4 for WH-3) (Considers transit orders as in-stock orders too).</a:t>
            </a:r>
            <a:endParaRPr b="0" i="0" sz="1100" u="none" cap="none" strike="noStrike">
              <a:solidFill>
                <a:schemeClr val="dk1"/>
              </a:solidFill>
              <a:latin typeface="Calibri"/>
              <a:ea typeface="Calibri"/>
              <a:cs typeface="Calibri"/>
              <a:sym typeface="Calibri"/>
            </a:endParaRPr>
          </a:p>
        </p:txBody>
      </p:sp>
      <p:sp>
        <p:nvSpPr>
          <p:cNvPr id="190" name="Google Shape;190;p7"/>
          <p:cNvSpPr/>
          <p:nvPr/>
        </p:nvSpPr>
        <p:spPr>
          <a:xfrm>
            <a:off x="457200" y="4197096"/>
            <a:ext cx="384048" cy="384048"/>
          </a:xfrm>
          <a:prstGeom prst="ellipse">
            <a:avLst/>
          </a:prstGeom>
          <a:solidFill>
            <a:srgbClr val="FB923C"/>
          </a:solidFill>
          <a:ln cap="flat" cmpd="sng" w="12700">
            <a:solidFill>
              <a:srgbClr val="FB923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7"/>
          <p:cNvSpPr/>
          <p:nvPr/>
        </p:nvSpPr>
        <p:spPr>
          <a:xfrm>
            <a:off x="457200" y="4197096"/>
            <a:ext cx="384048"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50B14"/>
              </a:buClr>
              <a:buSzPts val="1400"/>
              <a:buFont typeface="Trebuchet MS"/>
              <a:buNone/>
            </a:pPr>
            <a:r>
              <a:rPr b="1" i="0" lang="en-US" sz="1400" u="none" cap="none" strike="noStrike">
                <a:solidFill>
                  <a:srgbClr val="050B14"/>
                </a:solidFill>
                <a:latin typeface="Trebuchet MS"/>
                <a:ea typeface="Trebuchet MS"/>
                <a:cs typeface="Trebuchet MS"/>
                <a:sym typeface="Trebuchet MS"/>
              </a:rPr>
              <a:t>5</a:t>
            </a:r>
            <a:endParaRPr b="0" i="0" sz="1400" u="none" cap="none" strike="noStrike">
              <a:solidFill>
                <a:schemeClr val="dk1"/>
              </a:solidFill>
              <a:latin typeface="Calibri"/>
              <a:ea typeface="Calibri"/>
              <a:cs typeface="Calibri"/>
              <a:sym typeface="Calibri"/>
            </a:endParaRPr>
          </a:p>
        </p:txBody>
      </p:sp>
      <p:sp>
        <p:nvSpPr>
          <p:cNvPr id="192" name="Google Shape;192;p7"/>
          <p:cNvSpPr/>
          <p:nvPr/>
        </p:nvSpPr>
        <p:spPr>
          <a:xfrm>
            <a:off x="960120" y="4178808"/>
            <a:ext cx="42062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B923C"/>
              </a:buClr>
              <a:buSzPts val="1300"/>
              <a:buFont typeface="Trebuchet MS"/>
              <a:buNone/>
            </a:pPr>
            <a:r>
              <a:rPr b="1" i="0" lang="en-US" sz="1300" u="none" cap="none" strike="noStrike">
                <a:solidFill>
                  <a:srgbClr val="FB923C"/>
                </a:solidFill>
                <a:latin typeface="Trebuchet MS"/>
                <a:ea typeface="Trebuchet MS"/>
                <a:cs typeface="Trebuchet MS"/>
                <a:sym typeface="Trebuchet MS"/>
              </a:rPr>
              <a:t>Mark Constrained if Unresolved</a:t>
            </a:r>
            <a:endParaRPr b="0" i="0" sz="1300" u="none" cap="none" strike="noStrike">
              <a:solidFill>
                <a:schemeClr val="dk1"/>
              </a:solidFill>
              <a:latin typeface="Calibri"/>
              <a:ea typeface="Calibri"/>
              <a:cs typeface="Calibri"/>
              <a:sym typeface="Calibri"/>
            </a:endParaRPr>
          </a:p>
        </p:txBody>
      </p:sp>
      <p:sp>
        <p:nvSpPr>
          <p:cNvPr id="193" name="Google Shape;193;p7"/>
          <p:cNvSpPr/>
          <p:nvPr/>
        </p:nvSpPr>
        <p:spPr>
          <a:xfrm>
            <a:off x="960120" y="4453128"/>
            <a:ext cx="4206240" cy="38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If no part in the chain satisfies the order at either location → CONSTRAINED.</a:t>
            </a:r>
            <a:endParaRPr b="0" i="0" sz="1100" u="none" cap="none" strike="noStrike">
              <a:solidFill>
                <a:schemeClr val="dk1"/>
              </a:solidFill>
              <a:latin typeface="Calibri"/>
              <a:ea typeface="Calibri"/>
              <a:cs typeface="Calibri"/>
              <a:sym typeface="Calibri"/>
            </a:endParaRPr>
          </a:p>
        </p:txBody>
      </p:sp>
      <p:sp>
        <p:nvSpPr>
          <p:cNvPr id="194" name="Google Shape;194;p7"/>
          <p:cNvSpPr/>
          <p:nvPr/>
        </p:nvSpPr>
        <p:spPr>
          <a:xfrm>
            <a:off x="5394950" y="1188725"/>
            <a:ext cx="3660300" cy="3051300"/>
          </a:xfrm>
          <a:prstGeom prst="rect">
            <a:avLst/>
          </a:prstGeom>
          <a:solidFill>
            <a:srgbClr val="0F1A2E"/>
          </a:solidFill>
          <a:ln cap="flat" cmpd="sng" w="12700">
            <a:solidFill>
              <a:srgbClr val="162035"/>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7"/>
          <p:cNvSpPr/>
          <p:nvPr/>
        </p:nvSpPr>
        <p:spPr>
          <a:xfrm>
            <a:off x="5394960" y="1188720"/>
            <a:ext cx="3474720" cy="54864"/>
          </a:xfrm>
          <a:prstGeom prst="rect">
            <a:avLst/>
          </a:prstGeom>
          <a:solidFill>
            <a:srgbClr val="3B82F6"/>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7"/>
          <p:cNvSpPr/>
          <p:nvPr/>
        </p:nvSpPr>
        <p:spPr>
          <a:xfrm>
            <a:off x="5532120" y="1353312"/>
            <a:ext cx="32004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B82F6"/>
              </a:buClr>
              <a:buSzPts val="1100"/>
              <a:buFont typeface="Calibri"/>
              <a:buNone/>
            </a:pPr>
            <a:r>
              <a:rPr b="1" i="0" lang="en-US" sz="1100" u="none" cap="none" strike="noStrike">
                <a:solidFill>
                  <a:srgbClr val="3B82F6"/>
                </a:solidFill>
                <a:latin typeface="Calibri"/>
                <a:ea typeface="Calibri"/>
                <a:cs typeface="Calibri"/>
                <a:sym typeface="Calibri"/>
              </a:rPr>
              <a:t>KEY RULES</a:t>
            </a:r>
            <a:endParaRPr b="0" i="0" sz="1100" u="none" cap="none" strike="noStrike">
              <a:solidFill>
                <a:schemeClr val="dk1"/>
              </a:solidFill>
              <a:latin typeface="Calibri"/>
              <a:ea typeface="Calibri"/>
              <a:cs typeface="Calibri"/>
              <a:sym typeface="Calibri"/>
            </a:endParaRPr>
          </a:p>
        </p:txBody>
      </p:sp>
      <p:sp>
        <p:nvSpPr>
          <p:cNvPr id="197" name="Google Shape;197;p7"/>
          <p:cNvSpPr/>
          <p:nvPr/>
        </p:nvSpPr>
        <p:spPr>
          <a:xfrm>
            <a:off x="5532120" y="1828800"/>
            <a:ext cx="3200400" cy="658368"/>
          </a:xfrm>
          <a:prstGeom prst="rect">
            <a:avLst/>
          </a:prstGeom>
          <a:solidFill>
            <a:srgbClr val="0A1220"/>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7"/>
          <p:cNvSpPr/>
          <p:nvPr/>
        </p:nvSpPr>
        <p:spPr>
          <a:xfrm>
            <a:off x="5650992" y="1865376"/>
            <a:ext cx="29260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8BDF8"/>
              </a:buClr>
              <a:buSzPts val="1100"/>
              <a:buFont typeface="Calibri"/>
              <a:buNone/>
            </a:pPr>
            <a:r>
              <a:rPr b="1" i="0" lang="en-US" sz="1100" u="none" cap="none" strike="noStrike">
                <a:solidFill>
                  <a:srgbClr val="38BDF8"/>
                </a:solidFill>
                <a:latin typeface="Calibri"/>
                <a:ea typeface="Calibri"/>
                <a:cs typeface="Calibri"/>
                <a:sym typeface="Calibri"/>
              </a:rPr>
              <a:t>Deduction Order</a:t>
            </a:r>
            <a:endParaRPr b="0" i="0" sz="1100" u="none" cap="none" strike="noStrike">
              <a:solidFill>
                <a:schemeClr val="dk1"/>
              </a:solidFill>
              <a:latin typeface="Calibri"/>
              <a:ea typeface="Calibri"/>
              <a:cs typeface="Calibri"/>
              <a:sym typeface="Calibri"/>
            </a:endParaRPr>
          </a:p>
        </p:txBody>
      </p:sp>
      <p:sp>
        <p:nvSpPr>
          <p:cNvPr id="199" name="Google Shape;199;p7"/>
          <p:cNvSpPr/>
          <p:nvPr/>
        </p:nvSpPr>
        <p:spPr>
          <a:xfrm>
            <a:off x="5650992" y="2103120"/>
            <a:ext cx="2926080" cy="34747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On-hand inventory depleted first; in-transit used only after on-hand is exhausted.</a:t>
            </a:r>
            <a:endParaRPr b="0" i="0" sz="1000" u="none" cap="none" strike="noStrike">
              <a:solidFill>
                <a:schemeClr val="dk1"/>
              </a:solidFill>
              <a:latin typeface="Calibri"/>
              <a:ea typeface="Calibri"/>
              <a:cs typeface="Calibri"/>
              <a:sym typeface="Calibri"/>
            </a:endParaRPr>
          </a:p>
        </p:txBody>
      </p:sp>
      <p:sp>
        <p:nvSpPr>
          <p:cNvPr id="200" name="Google Shape;200;p7"/>
          <p:cNvSpPr/>
          <p:nvPr/>
        </p:nvSpPr>
        <p:spPr>
          <a:xfrm>
            <a:off x="5532120" y="2606040"/>
            <a:ext cx="3200400" cy="658368"/>
          </a:xfrm>
          <a:prstGeom prst="rect">
            <a:avLst/>
          </a:prstGeom>
          <a:solidFill>
            <a:srgbClr val="0A1220"/>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7"/>
          <p:cNvSpPr/>
          <p:nvPr/>
        </p:nvSpPr>
        <p:spPr>
          <a:xfrm>
            <a:off x="5650992" y="2642616"/>
            <a:ext cx="29260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C55E"/>
              </a:buClr>
              <a:buSzPts val="1100"/>
              <a:buFont typeface="Calibri"/>
              <a:buNone/>
            </a:pPr>
            <a:r>
              <a:rPr b="1" i="0" lang="en-US" sz="1100" u="none" cap="none" strike="noStrike">
                <a:solidFill>
                  <a:srgbClr val="22C55E"/>
                </a:solidFill>
                <a:latin typeface="Calibri"/>
                <a:ea typeface="Calibri"/>
                <a:cs typeface="Calibri"/>
                <a:sym typeface="Calibri"/>
              </a:rPr>
              <a:t>Self-Parent Rule</a:t>
            </a:r>
            <a:endParaRPr b="0" i="0" sz="1100" u="none" cap="none" strike="noStrike">
              <a:solidFill>
                <a:schemeClr val="dk1"/>
              </a:solidFill>
              <a:latin typeface="Calibri"/>
              <a:ea typeface="Calibri"/>
              <a:cs typeface="Calibri"/>
              <a:sym typeface="Calibri"/>
            </a:endParaRPr>
          </a:p>
        </p:txBody>
      </p:sp>
      <p:sp>
        <p:nvSpPr>
          <p:cNvPr id="202" name="Google Shape;202;p7"/>
          <p:cNvSpPr/>
          <p:nvPr/>
        </p:nvSpPr>
        <p:spPr>
          <a:xfrm>
            <a:off x="5650992" y="2880360"/>
            <a:ext cx="2926080" cy="34747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WH-1 is its own parent ,  no separate DC lookup needed for WH-1 orders.</a:t>
            </a:r>
            <a:endParaRPr b="0" i="0" sz="1000" u="none" cap="none" strike="noStrike">
              <a:solidFill>
                <a:schemeClr val="dk1"/>
              </a:solidFill>
              <a:latin typeface="Calibri"/>
              <a:ea typeface="Calibri"/>
              <a:cs typeface="Calibri"/>
              <a:sym typeface="Calibri"/>
            </a:endParaRPr>
          </a:p>
        </p:txBody>
      </p:sp>
      <p:sp>
        <p:nvSpPr>
          <p:cNvPr id="203" name="Google Shape;203;p7"/>
          <p:cNvSpPr/>
          <p:nvPr/>
        </p:nvSpPr>
        <p:spPr>
          <a:xfrm>
            <a:off x="5532120" y="3383280"/>
            <a:ext cx="3200400" cy="658368"/>
          </a:xfrm>
          <a:prstGeom prst="rect">
            <a:avLst/>
          </a:prstGeom>
          <a:solidFill>
            <a:srgbClr val="0A1220"/>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7"/>
          <p:cNvSpPr/>
          <p:nvPr/>
        </p:nvSpPr>
        <p:spPr>
          <a:xfrm>
            <a:off x="5650992" y="3419856"/>
            <a:ext cx="29260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100"/>
              <a:buFont typeface="Calibri"/>
              <a:buNone/>
            </a:pPr>
            <a:r>
              <a:rPr b="1" i="0" lang="en-US" sz="1100" u="none" cap="none" strike="noStrike">
                <a:solidFill>
                  <a:srgbClr val="F59E0B"/>
                </a:solidFill>
                <a:latin typeface="Calibri"/>
                <a:ea typeface="Calibri"/>
                <a:cs typeface="Calibri"/>
                <a:sym typeface="Calibri"/>
              </a:rPr>
              <a:t>No Partial Fills</a:t>
            </a:r>
            <a:endParaRPr b="0" i="0" sz="1100" u="none" cap="none" strike="noStrike">
              <a:solidFill>
                <a:schemeClr val="dk1"/>
              </a:solidFill>
              <a:latin typeface="Calibri"/>
              <a:ea typeface="Calibri"/>
              <a:cs typeface="Calibri"/>
              <a:sym typeface="Calibri"/>
            </a:endParaRPr>
          </a:p>
        </p:txBody>
      </p:sp>
      <p:sp>
        <p:nvSpPr>
          <p:cNvPr id="205" name="Google Shape;205;p7"/>
          <p:cNvSpPr/>
          <p:nvPr/>
        </p:nvSpPr>
        <p:spPr>
          <a:xfrm>
            <a:off x="5650992" y="3657600"/>
            <a:ext cx="2926080" cy="34747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Orders are all-or-nothing , partial inventory at a location does not satisfy the order.</a:t>
            </a:r>
            <a:endParaRPr b="0" i="0" sz="1000" u="none" cap="none" strike="noStrike">
              <a:solidFill>
                <a:schemeClr val="dk1"/>
              </a:solidFill>
              <a:latin typeface="Calibri"/>
              <a:ea typeface="Calibri"/>
              <a:cs typeface="Calibri"/>
              <a:sym typeface="Calibri"/>
            </a:endParaRPr>
          </a:p>
        </p:txBody>
      </p:sp>
      <p:sp>
        <p:nvSpPr>
          <p:cNvPr id="206" name="Google Shape;206;p7"/>
          <p:cNvSpPr/>
          <p:nvPr/>
        </p:nvSpPr>
        <p:spPr>
          <a:xfrm>
            <a:off x="5650992" y="4434840"/>
            <a:ext cx="2926080" cy="34747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4748B"/>
              </a:buClr>
              <a:buSzPts val="1000"/>
              <a:buFont typeface="Calibri"/>
              <a:buNone/>
            </a:pPr>
            <a:r>
              <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B14"/>
        </a:solidFill>
      </p:bgPr>
    </p:bg>
    <p:spTree>
      <p:nvGrpSpPr>
        <p:cNvPr id="211" name="Shape 211"/>
        <p:cNvGrpSpPr/>
        <p:nvPr/>
      </p:nvGrpSpPr>
      <p:grpSpPr>
        <a:xfrm>
          <a:off x="0" y="0"/>
          <a:ext cx="0" cy="0"/>
          <a:chOff x="0" y="0"/>
          <a:chExt cx="0" cy="0"/>
        </a:xfrm>
      </p:grpSpPr>
      <p:sp>
        <p:nvSpPr>
          <p:cNvPr id="212" name="Google Shape;212;p8"/>
          <p:cNvSpPr/>
          <p:nvPr/>
        </p:nvSpPr>
        <p:spPr>
          <a:xfrm>
            <a:off x="0" y="0"/>
            <a:ext cx="9144000" cy="36576"/>
          </a:xfrm>
          <a:prstGeom prst="rect">
            <a:avLst/>
          </a:prstGeom>
          <a:solidFill>
            <a:srgbClr val="14B8A6"/>
          </a:solidFill>
          <a:ln cap="flat" cmpd="sng" w="12700">
            <a:solidFill>
              <a:srgbClr val="14B8A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13" name="Google Shape;213;p8"/>
          <p:cNvCxnSpPr/>
          <p:nvPr/>
        </p:nvCxnSpPr>
        <p:spPr>
          <a:xfrm>
            <a:off x="9144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214" name="Google Shape;214;p8"/>
          <p:cNvCxnSpPr/>
          <p:nvPr/>
        </p:nvCxnSpPr>
        <p:spPr>
          <a:xfrm>
            <a:off x="18288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215" name="Google Shape;215;p8"/>
          <p:cNvCxnSpPr/>
          <p:nvPr/>
        </p:nvCxnSpPr>
        <p:spPr>
          <a:xfrm>
            <a:off x="27432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216" name="Google Shape;216;p8"/>
          <p:cNvCxnSpPr/>
          <p:nvPr/>
        </p:nvCxnSpPr>
        <p:spPr>
          <a:xfrm>
            <a:off x="36576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217" name="Google Shape;217;p8"/>
          <p:cNvCxnSpPr/>
          <p:nvPr/>
        </p:nvCxnSpPr>
        <p:spPr>
          <a:xfrm>
            <a:off x="45720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218" name="Google Shape;218;p8"/>
          <p:cNvCxnSpPr/>
          <p:nvPr/>
        </p:nvCxnSpPr>
        <p:spPr>
          <a:xfrm>
            <a:off x="54864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219" name="Google Shape;219;p8"/>
          <p:cNvCxnSpPr/>
          <p:nvPr/>
        </p:nvCxnSpPr>
        <p:spPr>
          <a:xfrm>
            <a:off x="64008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220" name="Google Shape;220;p8"/>
          <p:cNvCxnSpPr/>
          <p:nvPr/>
        </p:nvCxnSpPr>
        <p:spPr>
          <a:xfrm>
            <a:off x="73152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221" name="Google Shape;221;p8"/>
          <p:cNvCxnSpPr/>
          <p:nvPr/>
        </p:nvCxnSpPr>
        <p:spPr>
          <a:xfrm>
            <a:off x="8229600" y="0"/>
            <a:ext cx="0" cy="5143500"/>
          </a:xfrm>
          <a:prstGeom prst="straightConnector1">
            <a:avLst/>
          </a:prstGeom>
          <a:noFill/>
          <a:ln cap="flat" cmpd="sng" w="9525">
            <a:solidFill>
              <a:srgbClr val="162035"/>
            </a:solidFill>
            <a:prstDash val="solid"/>
            <a:round/>
            <a:headEnd len="sm" w="sm" type="none"/>
            <a:tailEnd len="sm" w="sm" type="none"/>
          </a:ln>
        </p:spPr>
      </p:cxnSp>
      <p:sp>
        <p:nvSpPr>
          <p:cNvPr id="222" name="Google Shape;222;p8"/>
          <p:cNvSpPr/>
          <p:nvPr/>
        </p:nvSpPr>
        <p:spPr>
          <a:xfrm>
            <a:off x="457200" y="228600"/>
            <a:ext cx="1645920" cy="256032"/>
          </a:xfrm>
          <a:prstGeom prst="rect">
            <a:avLst/>
          </a:prstGeom>
          <a:solidFill>
            <a:srgbClr val="14B8A6">
              <a:alpha val="20000"/>
            </a:srgbClr>
          </a:solidFill>
          <a:ln cap="flat" cmpd="sng" w="12700">
            <a:solidFill>
              <a:srgbClr val="14B8A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8"/>
          <p:cNvSpPr/>
          <p:nvPr/>
        </p:nvSpPr>
        <p:spPr>
          <a:xfrm>
            <a:off x="457200" y="228600"/>
            <a:ext cx="16459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4B8A6"/>
              </a:buClr>
              <a:buSzPts val="800"/>
              <a:buFont typeface="Calibri"/>
              <a:buNone/>
            </a:pPr>
            <a:r>
              <a:rPr b="1" i="0" lang="en-US" sz="1200" u="none" cap="none" strike="noStrike">
                <a:solidFill>
                  <a:srgbClr val="14B8A6"/>
                </a:solidFill>
                <a:latin typeface="Calibri"/>
                <a:ea typeface="Calibri"/>
                <a:cs typeface="Calibri"/>
                <a:sym typeface="Calibri"/>
              </a:rPr>
              <a:t>FEATURE</a:t>
            </a:r>
            <a:endParaRPr b="0" i="0" sz="1200" u="none" cap="none" strike="noStrike">
              <a:solidFill>
                <a:schemeClr val="dk1"/>
              </a:solidFill>
              <a:latin typeface="Calibri"/>
              <a:ea typeface="Calibri"/>
              <a:cs typeface="Calibri"/>
              <a:sym typeface="Calibri"/>
            </a:endParaRPr>
          </a:p>
        </p:txBody>
      </p:sp>
      <p:sp>
        <p:nvSpPr>
          <p:cNvPr id="224" name="Google Shape;224;p8"/>
          <p:cNvSpPr/>
          <p:nvPr/>
        </p:nvSpPr>
        <p:spPr>
          <a:xfrm>
            <a:off x="457200" y="502925"/>
            <a:ext cx="5096400" cy="594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Trebuchet MS"/>
              <a:buNone/>
            </a:pPr>
            <a:r>
              <a:rPr b="1" i="0" lang="en-US" sz="2400" u="none" cap="none" strike="noStrike">
                <a:solidFill>
                  <a:srgbClr val="FFFFFF"/>
                </a:solidFill>
                <a:latin typeface="Trebuchet MS"/>
                <a:ea typeface="Trebuchet MS"/>
                <a:cs typeface="Trebuchet MS"/>
                <a:sym typeface="Trebuchet MS"/>
              </a:rPr>
              <a:t>Live Dashboard — At a Glance</a:t>
            </a:r>
            <a:endParaRPr b="0" i="0" sz="2400" u="none" cap="none" strike="noStrike">
              <a:solidFill>
                <a:schemeClr val="dk1"/>
              </a:solidFill>
              <a:latin typeface="Calibri"/>
              <a:ea typeface="Calibri"/>
              <a:cs typeface="Calibri"/>
              <a:sym typeface="Calibri"/>
            </a:endParaRPr>
          </a:p>
        </p:txBody>
      </p:sp>
      <p:sp>
        <p:nvSpPr>
          <p:cNvPr id="225" name="Google Shape;225;p8"/>
          <p:cNvSpPr/>
          <p:nvPr/>
        </p:nvSpPr>
        <p:spPr>
          <a:xfrm>
            <a:off x="457200" y="1234440"/>
            <a:ext cx="3840480" cy="8229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The dashboard panel provides instant visibility into the full order dataset, precomputed at server startup using the constraint algorithm.</a:t>
            </a:r>
            <a:endParaRPr b="0" i="0" sz="1200" u="none" cap="none" strike="noStrike">
              <a:solidFill>
                <a:schemeClr val="dk1"/>
              </a:solidFill>
              <a:latin typeface="Calibri"/>
              <a:ea typeface="Calibri"/>
              <a:cs typeface="Calibri"/>
              <a:sym typeface="Calibri"/>
            </a:endParaRPr>
          </a:p>
        </p:txBody>
      </p:sp>
      <p:sp>
        <p:nvSpPr>
          <p:cNvPr id="226" name="Google Shape;226;p8"/>
          <p:cNvSpPr/>
          <p:nvPr/>
        </p:nvSpPr>
        <p:spPr>
          <a:xfrm>
            <a:off x="457200" y="2148850"/>
            <a:ext cx="1783200" cy="914700"/>
          </a:xfrm>
          <a:prstGeom prst="rect">
            <a:avLst/>
          </a:prstGeom>
          <a:solidFill>
            <a:srgbClr val="0F1A2E"/>
          </a:solidFill>
          <a:ln cap="flat" cmpd="sng" w="12700">
            <a:solidFill>
              <a:srgbClr val="38BDF8"/>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8"/>
          <p:cNvSpPr/>
          <p:nvPr/>
        </p:nvSpPr>
        <p:spPr>
          <a:xfrm>
            <a:off x="457200" y="2148840"/>
            <a:ext cx="45720" cy="841248"/>
          </a:xfrm>
          <a:prstGeom prst="rect">
            <a:avLst/>
          </a:prstGeom>
          <a:solidFill>
            <a:srgbClr val="38BDF8"/>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8"/>
          <p:cNvSpPr/>
          <p:nvPr/>
        </p:nvSpPr>
        <p:spPr>
          <a:xfrm>
            <a:off x="566928" y="2194560"/>
            <a:ext cx="1600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8BDF8"/>
              </a:buClr>
              <a:buSzPts val="1100"/>
              <a:buFont typeface="Trebuchet MS"/>
              <a:buNone/>
            </a:pPr>
            <a:r>
              <a:rPr b="1" i="0" lang="en-US" sz="1100" u="none" cap="none" strike="noStrike">
                <a:solidFill>
                  <a:srgbClr val="38BDF8"/>
                </a:solidFill>
                <a:latin typeface="Trebuchet MS"/>
                <a:ea typeface="Trebuchet MS"/>
                <a:cs typeface="Trebuchet MS"/>
                <a:sym typeface="Trebuchet MS"/>
              </a:rPr>
              <a:t>KPI Cards</a:t>
            </a:r>
            <a:endParaRPr b="0" i="0" sz="1100" u="none" cap="none" strike="noStrike">
              <a:solidFill>
                <a:schemeClr val="dk1"/>
              </a:solidFill>
              <a:latin typeface="Calibri"/>
              <a:ea typeface="Calibri"/>
              <a:cs typeface="Calibri"/>
              <a:sym typeface="Calibri"/>
            </a:endParaRPr>
          </a:p>
        </p:txBody>
      </p:sp>
      <p:sp>
        <p:nvSpPr>
          <p:cNvPr id="229" name="Google Shape;229;p8"/>
          <p:cNvSpPr/>
          <p:nvPr/>
        </p:nvSpPr>
        <p:spPr>
          <a:xfrm>
            <a:off x="566925" y="2432300"/>
            <a:ext cx="1600200" cy="502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Total orders, total units, constrained count, fulfillment rate.</a:t>
            </a:r>
            <a:endParaRPr b="0" i="0" sz="1000" u="none" cap="none" strike="noStrike">
              <a:solidFill>
                <a:schemeClr val="dk1"/>
              </a:solidFill>
              <a:latin typeface="Calibri"/>
              <a:ea typeface="Calibri"/>
              <a:cs typeface="Calibri"/>
              <a:sym typeface="Calibri"/>
            </a:endParaRPr>
          </a:p>
        </p:txBody>
      </p:sp>
      <p:sp>
        <p:nvSpPr>
          <p:cNvPr id="230" name="Google Shape;230;p8"/>
          <p:cNvSpPr/>
          <p:nvPr/>
        </p:nvSpPr>
        <p:spPr>
          <a:xfrm>
            <a:off x="2377450" y="2148851"/>
            <a:ext cx="1783200" cy="914700"/>
          </a:xfrm>
          <a:prstGeom prst="rect">
            <a:avLst/>
          </a:prstGeom>
          <a:solidFill>
            <a:srgbClr val="0F1A2E"/>
          </a:solidFill>
          <a:ln cap="flat" cmpd="sng" w="12700">
            <a:solidFill>
              <a:srgbClr val="34D399"/>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8"/>
          <p:cNvSpPr/>
          <p:nvPr/>
        </p:nvSpPr>
        <p:spPr>
          <a:xfrm>
            <a:off x="2377440" y="2148840"/>
            <a:ext cx="45720" cy="841248"/>
          </a:xfrm>
          <a:prstGeom prst="rect">
            <a:avLst/>
          </a:prstGeom>
          <a:solidFill>
            <a:srgbClr val="34D399"/>
          </a:solidFill>
          <a:ln cap="flat" cmpd="sng" w="12700">
            <a:solidFill>
              <a:srgbClr val="34D3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8"/>
          <p:cNvSpPr/>
          <p:nvPr/>
        </p:nvSpPr>
        <p:spPr>
          <a:xfrm>
            <a:off x="2487175" y="2130550"/>
            <a:ext cx="1600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4D399"/>
              </a:buClr>
              <a:buSzPts val="1100"/>
              <a:buFont typeface="Trebuchet MS"/>
              <a:buNone/>
            </a:pPr>
            <a:r>
              <a:rPr b="1" i="0" lang="en-US" sz="1100" u="none" cap="none" strike="noStrike">
                <a:solidFill>
                  <a:srgbClr val="34D399"/>
                </a:solidFill>
                <a:latin typeface="Trebuchet MS"/>
                <a:ea typeface="Trebuchet MS"/>
                <a:cs typeface="Trebuchet MS"/>
                <a:sym typeface="Trebuchet MS"/>
              </a:rPr>
              <a:t>Part Bar Chart</a:t>
            </a:r>
            <a:endParaRPr b="0" i="0" sz="1100" u="none" cap="none" strike="noStrike">
              <a:solidFill>
                <a:schemeClr val="dk1"/>
              </a:solidFill>
              <a:latin typeface="Calibri"/>
              <a:ea typeface="Calibri"/>
              <a:cs typeface="Calibri"/>
              <a:sym typeface="Calibri"/>
            </a:endParaRPr>
          </a:p>
        </p:txBody>
      </p:sp>
      <p:sp>
        <p:nvSpPr>
          <p:cNvPr id="233" name="Google Shape;233;p8"/>
          <p:cNvSpPr/>
          <p:nvPr/>
        </p:nvSpPr>
        <p:spPr>
          <a:xfrm>
            <a:off x="2441450" y="2395700"/>
            <a:ext cx="1645800" cy="594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Stacked horizontal bars showing fulfilled vs constrained per part with % rate.</a:t>
            </a:r>
            <a:endParaRPr b="0" i="0" sz="1000" u="none" cap="none" strike="noStrike">
              <a:solidFill>
                <a:schemeClr val="dk1"/>
              </a:solidFill>
              <a:latin typeface="Calibri"/>
              <a:ea typeface="Calibri"/>
              <a:cs typeface="Calibri"/>
              <a:sym typeface="Calibri"/>
            </a:endParaRPr>
          </a:p>
        </p:txBody>
      </p:sp>
      <p:sp>
        <p:nvSpPr>
          <p:cNvPr id="234" name="Google Shape;234;p8"/>
          <p:cNvSpPr/>
          <p:nvPr/>
        </p:nvSpPr>
        <p:spPr>
          <a:xfrm>
            <a:off x="457200" y="3108960"/>
            <a:ext cx="1783080" cy="841248"/>
          </a:xfrm>
          <a:prstGeom prst="rect">
            <a:avLst/>
          </a:prstGeom>
          <a:solidFill>
            <a:srgbClr val="0F1A2E"/>
          </a:solidFill>
          <a:ln cap="flat" cmpd="sng" w="12700">
            <a:solidFill>
              <a:srgbClr val="14B8A6"/>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8"/>
          <p:cNvSpPr/>
          <p:nvPr/>
        </p:nvSpPr>
        <p:spPr>
          <a:xfrm>
            <a:off x="457200" y="3108960"/>
            <a:ext cx="45720" cy="841248"/>
          </a:xfrm>
          <a:prstGeom prst="rect">
            <a:avLst/>
          </a:prstGeom>
          <a:solidFill>
            <a:srgbClr val="14B8A6"/>
          </a:solidFill>
          <a:ln cap="flat" cmpd="sng" w="12700">
            <a:solidFill>
              <a:srgbClr val="14B8A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8"/>
          <p:cNvSpPr/>
          <p:nvPr/>
        </p:nvSpPr>
        <p:spPr>
          <a:xfrm>
            <a:off x="566928" y="3154680"/>
            <a:ext cx="1600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B8A6"/>
              </a:buClr>
              <a:buSzPts val="1100"/>
              <a:buFont typeface="Trebuchet MS"/>
              <a:buNone/>
            </a:pPr>
            <a:r>
              <a:rPr b="1" i="0" lang="en-US" sz="1100" u="none" cap="none" strike="noStrike">
                <a:solidFill>
                  <a:srgbClr val="14B8A6"/>
                </a:solidFill>
                <a:latin typeface="Trebuchet MS"/>
                <a:ea typeface="Trebuchet MS"/>
                <a:cs typeface="Trebuchet MS"/>
                <a:sym typeface="Trebuchet MS"/>
              </a:rPr>
              <a:t>Warehouse Chart</a:t>
            </a:r>
            <a:endParaRPr b="0" i="0" sz="1100" u="none" cap="none" strike="noStrike">
              <a:solidFill>
                <a:schemeClr val="dk1"/>
              </a:solidFill>
              <a:latin typeface="Calibri"/>
              <a:ea typeface="Calibri"/>
              <a:cs typeface="Calibri"/>
              <a:sym typeface="Calibri"/>
            </a:endParaRPr>
          </a:p>
        </p:txBody>
      </p:sp>
      <p:sp>
        <p:nvSpPr>
          <p:cNvPr id="237" name="Google Shape;237;p8"/>
          <p:cNvSpPr/>
          <p:nvPr/>
        </p:nvSpPr>
        <p:spPr>
          <a:xfrm>
            <a:off x="566928" y="3419856"/>
            <a:ext cx="1600200" cy="4754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Side-by-side grouped bars comparing order volume across WH-1, WH-2, WH-3.</a:t>
            </a:r>
            <a:endParaRPr b="0" i="0" sz="1000" u="none" cap="none" strike="noStrike">
              <a:solidFill>
                <a:schemeClr val="dk1"/>
              </a:solidFill>
              <a:latin typeface="Calibri"/>
              <a:ea typeface="Calibri"/>
              <a:cs typeface="Calibri"/>
              <a:sym typeface="Calibri"/>
            </a:endParaRPr>
          </a:p>
        </p:txBody>
      </p:sp>
      <p:sp>
        <p:nvSpPr>
          <p:cNvPr id="238" name="Google Shape;238;p8"/>
          <p:cNvSpPr/>
          <p:nvPr/>
        </p:nvSpPr>
        <p:spPr>
          <a:xfrm>
            <a:off x="2377440" y="3108960"/>
            <a:ext cx="1783080" cy="841248"/>
          </a:xfrm>
          <a:prstGeom prst="rect">
            <a:avLst/>
          </a:prstGeom>
          <a:solidFill>
            <a:srgbClr val="0F1A2E"/>
          </a:solidFill>
          <a:ln cap="flat" cmpd="sng" w="12700">
            <a:solidFill>
              <a:srgbClr val="3B82F6"/>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8"/>
          <p:cNvSpPr/>
          <p:nvPr/>
        </p:nvSpPr>
        <p:spPr>
          <a:xfrm>
            <a:off x="2377440" y="3108960"/>
            <a:ext cx="45720" cy="841248"/>
          </a:xfrm>
          <a:prstGeom prst="rect">
            <a:avLst/>
          </a:prstGeom>
          <a:solidFill>
            <a:srgbClr val="3B82F6"/>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8"/>
          <p:cNvSpPr/>
          <p:nvPr/>
        </p:nvSpPr>
        <p:spPr>
          <a:xfrm>
            <a:off x="2487168" y="3154680"/>
            <a:ext cx="1600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B82F6"/>
              </a:buClr>
              <a:buSzPts val="1100"/>
              <a:buFont typeface="Trebuchet MS"/>
              <a:buNone/>
            </a:pPr>
            <a:r>
              <a:rPr b="1" i="0" lang="en-US" sz="1100" u="none" cap="none" strike="noStrike">
                <a:solidFill>
                  <a:srgbClr val="3B82F6"/>
                </a:solidFill>
                <a:latin typeface="Trebuchet MS"/>
                <a:ea typeface="Trebuchet MS"/>
                <a:cs typeface="Trebuchet MS"/>
                <a:sym typeface="Trebuchet MS"/>
              </a:rPr>
              <a:t>Timeline Chart</a:t>
            </a:r>
            <a:endParaRPr b="0" i="0" sz="1100" u="none" cap="none" strike="noStrike">
              <a:solidFill>
                <a:schemeClr val="dk1"/>
              </a:solidFill>
              <a:latin typeface="Calibri"/>
              <a:ea typeface="Calibri"/>
              <a:cs typeface="Calibri"/>
              <a:sym typeface="Calibri"/>
            </a:endParaRPr>
          </a:p>
        </p:txBody>
      </p:sp>
      <p:sp>
        <p:nvSpPr>
          <p:cNvPr id="241" name="Google Shape;241;p8"/>
          <p:cNvSpPr/>
          <p:nvPr/>
        </p:nvSpPr>
        <p:spPr>
          <a:xfrm>
            <a:off x="2487168" y="3419856"/>
            <a:ext cx="1600200" cy="4754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Monthly order volume bars showing when orders were created over 3+ years.</a:t>
            </a:r>
            <a:endParaRPr b="0" i="0" sz="1000" u="none" cap="none" strike="noStrike">
              <a:solidFill>
                <a:schemeClr val="dk1"/>
              </a:solidFill>
              <a:latin typeface="Calibri"/>
              <a:ea typeface="Calibri"/>
              <a:cs typeface="Calibri"/>
              <a:sym typeface="Calibri"/>
            </a:endParaRPr>
          </a:p>
        </p:txBody>
      </p:sp>
      <p:sp>
        <p:nvSpPr>
          <p:cNvPr id="242" name="Google Shape;242;p8"/>
          <p:cNvSpPr/>
          <p:nvPr/>
        </p:nvSpPr>
        <p:spPr>
          <a:xfrm>
            <a:off x="457200" y="4069075"/>
            <a:ext cx="1783200" cy="914700"/>
          </a:xfrm>
          <a:prstGeom prst="rect">
            <a:avLst/>
          </a:prstGeom>
          <a:solidFill>
            <a:srgbClr val="0F1A2E"/>
          </a:solidFill>
          <a:ln cap="flat" cmpd="sng" w="12700">
            <a:solidFill>
              <a:srgbClr val="A78BFA"/>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8"/>
          <p:cNvSpPr/>
          <p:nvPr/>
        </p:nvSpPr>
        <p:spPr>
          <a:xfrm>
            <a:off x="457200" y="4069080"/>
            <a:ext cx="45720" cy="841248"/>
          </a:xfrm>
          <a:prstGeom prst="rect">
            <a:avLst/>
          </a:prstGeom>
          <a:solidFill>
            <a:srgbClr val="A78BFA"/>
          </a:solidFill>
          <a:ln cap="flat" cmpd="sng" w="12700">
            <a:solidFill>
              <a:srgbClr val="A78B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8"/>
          <p:cNvSpPr/>
          <p:nvPr/>
        </p:nvSpPr>
        <p:spPr>
          <a:xfrm>
            <a:off x="566928" y="4114800"/>
            <a:ext cx="1600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78BFA"/>
              </a:buClr>
              <a:buSzPts val="1100"/>
              <a:buFont typeface="Trebuchet MS"/>
              <a:buNone/>
            </a:pPr>
            <a:r>
              <a:rPr b="1" i="0" lang="en-US" sz="1100" u="none" cap="none" strike="noStrike">
                <a:solidFill>
                  <a:srgbClr val="A78BFA"/>
                </a:solidFill>
                <a:latin typeface="Trebuchet MS"/>
                <a:ea typeface="Trebuchet MS"/>
                <a:cs typeface="Trebuchet MS"/>
                <a:sym typeface="Trebuchet MS"/>
              </a:rPr>
              <a:t>Summary Tables</a:t>
            </a:r>
            <a:endParaRPr b="0" i="0" sz="1100" u="none" cap="none" strike="noStrike">
              <a:solidFill>
                <a:schemeClr val="dk1"/>
              </a:solidFill>
              <a:latin typeface="Calibri"/>
              <a:ea typeface="Calibri"/>
              <a:cs typeface="Calibri"/>
              <a:sym typeface="Calibri"/>
            </a:endParaRPr>
          </a:p>
        </p:txBody>
      </p:sp>
      <p:sp>
        <p:nvSpPr>
          <p:cNvPr id="245" name="Google Shape;245;p8"/>
          <p:cNvSpPr/>
          <p:nvPr/>
        </p:nvSpPr>
        <p:spPr>
          <a:xfrm>
            <a:off x="566925" y="4325102"/>
            <a:ext cx="1600200" cy="530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Part and warehouse breakdowns: order count, total qty, constrained, rate %.</a:t>
            </a:r>
            <a:endParaRPr b="0" i="0" sz="1000" u="none" cap="none" strike="noStrike">
              <a:solidFill>
                <a:schemeClr val="dk1"/>
              </a:solidFill>
              <a:latin typeface="Calibri"/>
              <a:ea typeface="Calibri"/>
              <a:cs typeface="Calibri"/>
              <a:sym typeface="Calibri"/>
            </a:endParaRPr>
          </a:p>
        </p:txBody>
      </p:sp>
      <p:sp>
        <p:nvSpPr>
          <p:cNvPr id="246" name="Google Shape;246;p8"/>
          <p:cNvSpPr/>
          <p:nvPr/>
        </p:nvSpPr>
        <p:spPr>
          <a:xfrm>
            <a:off x="2377450" y="4069075"/>
            <a:ext cx="1783200" cy="914700"/>
          </a:xfrm>
          <a:prstGeom prst="rect">
            <a:avLst/>
          </a:prstGeom>
          <a:solidFill>
            <a:srgbClr val="0F1A2E"/>
          </a:solidFill>
          <a:ln cap="flat" cmpd="sng" w="12700">
            <a:solidFill>
              <a:srgbClr val="F59E0B"/>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8"/>
          <p:cNvSpPr/>
          <p:nvPr/>
        </p:nvSpPr>
        <p:spPr>
          <a:xfrm>
            <a:off x="2377440" y="4069080"/>
            <a:ext cx="45720" cy="841248"/>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8"/>
          <p:cNvSpPr/>
          <p:nvPr/>
        </p:nvSpPr>
        <p:spPr>
          <a:xfrm>
            <a:off x="2487168" y="4114800"/>
            <a:ext cx="1600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100"/>
              <a:buFont typeface="Trebuchet MS"/>
              <a:buNone/>
            </a:pPr>
            <a:r>
              <a:rPr b="1" i="0" lang="en-US" sz="1100" u="none" cap="none" strike="noStrike">
                <a:solidFill>
                  <a:srgbClr val="F59E0B"/>
                </a:solidFill>
                <a:latin typeface="Trebuchet MS"/>
                <a:ea typeface="Trebuchet MS"/>
                <a:cs typeface="Trebuchet MS"/>
                <a:sym typeface="Trebuchet MS"/>
              </a:rPr>
              <a:t>Top Constrained</a:t>
            </a:r>
            <a:endParaRPr b="0" i="0" sz="1100" u="none" cap="none" strike="noStrike">
              <a:solidFill>
                <a:schemeClr val="dk1"/>
              </a:solidFill>
              <a:latin typeface="Calibri"/>
              <a:ea typeface="Calibri"/>
              <a:cs typeface="Calibri"/>
              <a:sym typeface="Calibri"/>
            </a:endParaRPr>
          </a:p>
        </p:txBody>
      </p:sp>
      <p:sp>
        <p:nvSpPr>
          <p:cNvPr id="249" name="Google Shape;249;p8"/>
          <p:cNvSpPr/>
          <p:nvPr/>
        </p:nvSpPr>
        <p:spPr>
          <a:xfrm>
            <a:off x="2487168" y="4379976"/>
            <a:ext cx="1600200" cy="4754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Top 10 highest-quantity constrained orders sorted by urgency (order date).</a:t>
            </a:r>
            <a:endParaRPr b="0" i="0" sz="1000" u="none" cap="none" strike="noStrike">
              <a:solidFill>
                <a:schemeClr val="dk1"/>
              </a:solidFill>
              <a:latin typeface="Calibri"/>
              <a:ea typeface="Calibri"/>
              <a:cs typeface="Calibri"/>
              <a:sym typeface="Calibri"/>
            </a:endParaRPr>
          </a:p>
        </p:txBody>
      </p:sp>
      <p:sp>
        <p:nvSpPr>
          <p:cNvPr id="250" name="Google Shape;250;p8"/>
          <p:cNvSpPr/>
          <p:nvPr/>
        </p:nvSpPr>
        <p:spPr>
          <a:xfrm>
            <a:off x="4434840" y="1188720"/>
            <a:ext cx="4297680" cy="3611880"/>
          </a:xfrm>
          <a:prstGeom prst="rect">
            <a:avLst/>
          </a:prstGeom>
          <a:solidFill>
            <a:srgbClr val="0F1A2E"/>
          </a:solidFill>
          <a:ln cap="flat" cmpd="sng" w="12700">
            <a:solidFill>
              <a:srgbClr val="162035"/>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8"/>
          <p:cNvSpPr/>
          <p:nvPr/>
        </p:nvSpPr>
        <p:spPr>
          <a:xfrm>
            <a:off x="4434840" y="1188720"/>
            <a:ext cx="4297680" cy="54864"/>
          </a:xfrm>
          <a:prstGeom prst="rect">
            <a:avLst/>
          </a:prstGeom>
          <a:solidFill>
            <a:srgbClr val="14B8A6"/>
          </a:solidFill>
          <a:ln cap="flat" cmpd="sng" w="12700">
            <a:solidFill>
              <a:srgbClr val="14B8A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8"/>
          <p:cNvSpPr/>
          <p:nvPr/>
        </p:nvSpPr>
        <p:spPr>
          <a:xfrm>
            <a:off x="4572000" y="1353312"/>
            <a:ext cx="402336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4B8A6"/>
              </a:buClr>
              <a:buSzPts val="1000"/>
              <a:buFont typeface="Calibri"/>
              <a:buNone/>
            </a:pPr>
            <a:r>
              <a:rPr b="1" i="0" lang="en-US" sz="1000" u="none" cap="none" strike="noStrike">
                <a:solidFill>
                  <a:srgbClr val="14B8A6"/>
                </a:solidFill>
                <a:latin typeface="Calibri"/>
                <a:ea typeface="Calibri"/>
                <a:cs typeface="Calibri"/>
                <a:sym typeface="Calibri"/>
              </a:rPr>
              <a:t>SAMPLE STATS (Default Inventory)</a:t>
            </a:r>
            <a:endParaRPr b="0" i="0" sz="1000" u="none" cap="none" strike="noStrike">
              <a:solidFill>
                <a:schemeClr val="dk1"/>
              </a:solidFill>
              <a:latin typeface="Calibri"/>
              <a:ea typeface="Calibri"/>
              <a:cs typeface="Calibri"/>
              <a:sym typeface="Calibri"/>
            </a:endParaRPr>
          </a:p>
        </p:txBody>
      </p:sp>
      <p:sp>
        <p:nvSpPr>
          <p:cNvPr id="253" name="Google Shape;253;p8"/>
          <p:cNvSpPr/>
          <p:nvPr/>
        </p:nvSpPr>
        <p:spPr>
          <a:xfrm>
            <a:off x="4572000" y="1783080"/>
            <a:ext cx="196596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8BDF8"/>
              </a:buClr>
              <a:buSzPts val="3000"/>
              <a:buFont typeface="Consolas"/>
              <a:buNone/>
            </a:pPr>
            <a:r>
              <a:rPr b="1" i="0" lang="en-US" sz="3000" u="none" cap="none" strike="noStrike">
                <a:solidFill>
                  <a:srgbClr val="38BDF8"/>
                </a:solidFill>
                <a:latin typeface="Consolas"/>
                <a:ea typeface="Consolas"/>
                <a:cs typeface="Consolas"/>
                <a:sym typeface="Consolas"/>
              </a:rPr>
              <a:t>170</a:t>
            </a:r>
            <a:endParaRPr b="0" i="0" sz="3000" u="none" cap="none" strike="noStrike">
              <a:solidFill>
                <a:schemeClr val="dk1"/>
              </a:solidFill>
              <a:latin typeface="Calibri"/>
              <a:ea typeface="Calibri"/>
              <a:cs typeface="Calibri"/>
              <a:sym typeface="Calibri"/>
            </a:endParaRPr>
          </a:p>
        </p:txBody>
      </p:sp>
      <p:sp>
        <p:nvSpPr>
          <p:cNvPr id="254" name="Google Shape;254;p8"/>
          <p:cNvSpPr/>
          <p:nvPr/>
        </p:nvSpPr>
        <p:spPr>
          <a:xfrm>
            <a:off x="4572000" y="2258568"/>
            <a:ext cx="1965960" cy="3200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Total Unique Orders</a:t>
            </a:r>
            <a:endParaRPr b="0" i="0" sz="1000" u="none" cap="none" strike="noStrike">
              <a:solidFill>
                <a:schemeClr val="dk1"/>
              </a:solidFill>
              <a:latin typeface="Calibri"/>
              <a:ea typeface="Calibri"/>
              <a:cs typeface="Calibri"/>
              <a:sym typeface="Calibri"/>
            </a:endParaRPr>
          </a:p>
        </p:txBody>
      </p:sp>
      <p:sp>
        <p:nvSpPr>
          <p:cNvPr id="255" name="Google Shape;255;p8"/>
          <p:cNvSpPr/>
          <p:nvPr/>
        </p:nvSpPr>
        <p:spPr>
          <a:xfrm>
            <a:off x="6720840" y="1783080"/>
            <a:ext cx="196596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F4444"/>
              </a:buClr>
              <a:buSzPts val="3000"/>
              <a:buFont typeface="Consolas"/>
              <a:buNone/>
            </a:pPr>
            <a:r>
              <a:rPr b="1" i="0" lang="en-US" sz="3000" u="none" cap="none" strike="noStrike">
                <a:solidFill>
                  <a:srgbClr val="EF4444"/>
                </a:solidFill>
                <a:latin typeface="Consolas"/>
                <a:ea typeface="Consolas"/>
                <a:cs typeface="Consolas"/>
                <a:sym typeface="Consolas"/>
              </a:rPr>
              <a:t>29%</a:t>
            </a:r>
            <a:endParaRPr b="0" i="0" sz="3000" u="none" cap="none" strike="noStrike">
              <a:solidFill>
                <a:schemeClr val="dk1"/>
              </a:solidFill>
              <a:latin typeface="Calibri"/>
              <a:ea typeface="Calibri"/>
              <a:cs typeface="Calibri"/>
              <a:sym typeface="Calibri"/>
            </a:endParaRPr>
          </a:p>
        </p:txBody>
      </p:sp>
      <p:sp>
        <p:nvSpPr>
          <p:cNvPr id="256" name="Google Shape;256;p8"/>
          <p:cNvSpPr/>
          <p:nvPr/>
        </p:nvSpPr>
        <p:spPr>
          <a:xfrm>
            <a:off x="6720840" y="2258568"/>
            <a:ext cx="1965960" cy="3200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Overall Constraint Rate</a:t>
            </a:r>
            <a:endParaRPr b="0" i="0" sz="1000" u="none" cap="none" strike="noStrike">
              <a:solidFill>
                <a:schemeClr val="dk1"/>
              </a:solidFill>
              <a:latin typeface="Calibri"/>
              <a:ea typeface="Calibri"/>
              <a:cs typeface="Calibri"/>
              <a:sym typeface="Calibri"/>
            </a:endParaRPr>
          </a:p>
        </p:txBody>
      </p:sp>
      <p:sp>
        <p:nvSpPr>
          <p:cNvPr id="257" name="Google Shape;257;p8"/>
          <p:cNvSpPr/>
          <p:nvPr/>
        </p:nvSpPr>
        <p:spPr>
          <a:xfrm>
            <a:off x="4572000" y="2743200"/>
            <a:ext cx="196596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78BFA"/>
              </a:buClr>
              <a:buSzPts val="3000"/>
              <a:buFont typeface="Consolas"/>
              <a:buNone/>
            </a:pPr>
            <a:r>
              <a:rPr b="1" i="0" lang="en-US" sz="3000" u="none" cap="none" strike="noStrike">
                <a:solidFill>
                  <a:srgbClr val="A78BFA"/>
                </a:solidFill>
                <a:latin typeface="Consolas"/>
                <a:ea typeface="Consolas"/>
                <a:cs typeface="Consolas"/>
                <a:sym typeface="Consolas"/>
              </a:rPr>
              <a:t>4</a:t>
            </a:r>
            <a:endParaRPr b="0" i="0" sz="3000" u="none" cap="none" strike="noStrike">
              <a:solidFill>
                <a:schemeClr val="dk1"/>
              </a:solidFill>
              <a:latin typeface="Calibri"/>
              <a:ea typeface="Calibri"/>
              <a:cs typeface="Calibri"/>
              <a:sym typeface="Calibri"/>
            </a:endParaRPr>
          </a:p>
        </p:txBody>
      </p:sp>
      <p:sp>
        <p:nvSpPr>
          <p:cNvPr id="258" name="Google Shape;258;p8"/>
          <p:cNvSpPr/>
          <p:nvPr/>
        </p:nvSpPr>
        <p:spPr>
          <a:xfrm>
            <a:off x="4572000" y="3218688"/>
            <a:ext cx="1965960" cy="3200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Parts Tracked</a:t>
            </a:r>
            <a:endParaRPr b="0" i="0" sz="1000" u="none" cap="none" strike="noStrike">
              <a:solidFill>
                <a:schemeClr val="dk1"/>
              </a:solidFill>
              <a:latin typeface="Calibri"/>
              <a:ea typeface="Calibri"/>
              <a:cs typeface="Calibri"/>
              <a:sym typeface="Calibri"/>
            </a:endParaRPr>
          </a:p>
        </p:txBody>
      </p:sp>
      <p:sp>
        <p:nvSpPr>
          <p:cNvPr id="259" name="Google Shape;259;p8"/>
          <p:cNvSpPr/>
          <p:nvPr/>
        </p:nvSpPr>
        <p:spPr>
          <a:xfrm>
            <a:off x="6720840" y="2743200"/>
            <a:ext cx="196596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4D399"/>
              </a:buClr>
              <a:buSzPts val="3000"/>
              <a:buFont typeface="Consolas"/>
              <a:buNone/>
            </a:pPr>
            <a:r>
              <a:rPr b="1" i="0" lang="en-US" sz="3000" u="none" cap="none" strike="noStrike">
                <a:solidFill>
                  <a:srgbClr val="34D399"/>
                </a:solidFill>
                <a:latin typeface="Consolas"/>
                <a:ea typeface="Consolas"/>
                <a:cs typeface="Consolas"/>
                <a:sym typeface="Consolas"/>
              </a:rPr>
              <a:t>3</a:t>
            </a:r>
            <a:endParaRPr b="0" i="0" sz="3000" u="none" cap="none" strike="noStrike">
              <a:solidFill>
                <a:schemeClr val="dk1"/>
              </a:solidFill>
              <a:latin typeface="Calibri"/>
              <a:ea typeface="Calibri"/>
              <a:cs typeface="Calibri"/>
              <a:sym typeface="Calibri"/>
            </a:endParaRPr>
          </a:p>
        </p:txBody>
      </p:sp>
      <p:sp>
        <p:nvSpPr>
          <p:cNvPr id="260" name="Google Shape;260;p8"/>
          <p:cNvSpPr/>
          <p:nvPr/>
        </p:nvSpPr>
        <p:spPr>
          <a:xfrm>
            <a:off x="6720840" y="3218688"/>
            <a:ext cx="1965960" cy="3200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Fulfiller Warehouses</a:t>
            </a:r>
            <a:endParaRPr b="0" i="0" sz="1000" u="none" cap="none" strike="noStrike">
              <a:solidFill>
                <a:schemeClr val="dk1"/>
              </a:solidFill>
              <a:latin typeface="Calibri"/>
              <a:ea typeface="Calibri"/>
              <a:cs typeface="Calibri"/>
              <a:sym typeface="Calibri"/>
            </a:endParaRPr>
          </a:p>
        </p:txBody>
      </p:sp>
      <p:sp>
        <p:nvSpPr>
          <p:cNvPr id="261" name="Google Shape;261;p8"/>
          <p:cNvSpPr/>
          <p:nvPr/>
        </p:nvSpPr>
        <p:spPr>
          <a:xfrm>
            <a:off x="4572000" y="3703320"/>
            <a:ext cx="196596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B923C"/>
              </a:buClr>
              <a:buSzPts val="3000"/>
              <a:buFont typeface="Consolas"/>
              <a:buNone/>
            </a:pPr>
            <a:r>
              <a:rPr b="1" i="0" lang="en-US" sz="3000" u="none" cap="none" strike="noStrike">
                <a:solidFill>
                  <a:srgbClr val="FB923C"/>
                </a:solidFill>
                <a:latin typeface="Consolas"/>
                <a:ea typeface="Consolas"/>
                <a:cs typeface="Consolas"/>
                <a:sym typeface="Consolas"/>
              </a:rPr>
              <a:t>115</a:t>
            </a:r>
            <a:endParaRPr b="0" i="0" sz="3000" u="none" cap="none" strike="noStrike">
              <a:solidFill>
                <a:schemeClr val="dk1"/>
              </a:solidFill>
              <a:latin typeface="Calibri"/>
              <a:ea typeface="Calibri"/>
              <a:cs typeface="Calibri"/>
              <a:sym typeface="Calibri"/>
            </a:endParaRPr>
          </a:p>
        </p:txBody>
      </p:sp>
      <p:sp>
        <p:nvSpPr>
          <p:cNvPr id="262" name="Google Shape;262;p8"/>
          <p:cNvSpPr/>
          <p:nvPr/>
        </p:nvSpPr>
        <p:spPr>
          <a:xfrm>
            <a:off x="4572000" y="4178808"/>
            <a:ext cx="1965960" cy="3200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Part D Orders (WH-3)</a:t>
            </a:r>
            <a:endParaRPr b="0" i="0" sz="1000" u="none" cap="none" strike="noStrike">
              <a:solidFill>
                <a:schemeClr val="dk1"/>
              </a:solidFill>
              <a:latin typeface="Calibri"/>
              <a:ea typeface="Calibri"/>
              <a:cs typeface="Calibri"/>
              <a:sym typeface="Calibri"/>
            </a:endParaRPr>
          </a:p>
        </p:txBody>
      </p:sp>
      <p:sp>
        <p:nvSpPr>
          <p:cNvPr id="263" name="Google Shape;263;p8"/>
          <p:cNvSpPr/>
          <p:nvPr/>
        </p:nvSpPr>
        <p:spPr>
          <a:xfrm>
            <a:off x="6720840" y="3703320"/>
            <a:ext cx="196596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9E0B"/>
              </a:buClr>
              <a:buSzPts val="3000"/>
              <a:buFont typeface="Consolas"/>
              <a:buNone/>
            </a:pPr>
            <a:r>
              <a:rPr b="1" i="0" lang="en-US" sz="3000" u="none" cap="none" strike="noStrike">
                <a:solidFill>
                  <a:srgbClr val="F59E0B"/>
                </a:solidFill>
                <a:latin typeface="Consolas"/>
                <a:ea typeface="Consolas"/>
                <a:cs typeface="Consolas"/>
                <a:sym typeface="Consolas"/>
              </a:rPr>
              <a:t>3+</a:t>
            </a:r>
            <a:endParaRPr b="0" i="0" sz="3000" u="none" cap="none" strike="noStrike">
              <a:solidFill>
                <a:schemeClr val="dk1"/>
              </a:solidFill>
              <a:latin typeface="Calibri"/>
              <a:ea typeface="Calibri"/>
              <a:cs typeface="Calibri"/>
              <a:sym typeface="Calibri"/>
            </a:endParaRPr>
          </a:p>
        </p:txBody>
      </p:sp>
      <p:sp>
        <p:nvSpPr>
          <p:cNvPr id="264" name="Google Shape;264;p8"/>
          <p:cNvSpPr/>
          <p:nvPr/>
        </p:nvSpPr>
        <p:spPr>
          <a:xfrm>
            <a:off x="6720840" y="4178808"/>
            <a:ext cx="1965960" cy="3200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Years of Order History</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B14"/>
        </a:solidFill>
      </p:bgPr>
    </p:bg>
    <p:spTree>
      <p:nvGrpSpPr>
        <p:cNvPr id="269" name="Shape 269"/>
        <p:cNvGrpSpPr/>
        <p:nvPr/>
      </p:nvGrpSpPr>
      <p:grpSpPr>
        <a:xfrm>
          <a:off x="0" y="0"/>
          <a:ext cx="0" cy="0"/>
          <a:chOff x="0" y="0"/>
          <a:chExt cx="0" cy="0"/>
        </a:xfrm>
      </p:grpSpPr>
      <p:sp>
        <p:nvSpPr>
          <p:cNvPr id="270" name="Google Shape;270;p9"/>
          <p:cNvSpPr/>
          <p:nvPr/>
        </p:nvSpPr>
        <p:spPr>
          <a:xfrm>
            <a:off x="0" y="0"/>
            <a:ext cx="9144000" cy="36576"/>
          </a:xfrm>
          <a:prstGeom prst="rect">
            <a:avLst/>
          </a:prstGeom>
          <a:solidFill>
            <a:srgbClr val="3B82F6"/>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71" name="Google Shape;271;p9"/>
          <p:cNvCxnSpPr/>
          <p:nvPr/>
        </p:nvCxnSpPr>
        <p:spPr>
          <a:xfrm>
            <a:off x="9144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272" name="Google Shape;272;p9"/>
          <p:cNvCxnSpPr/>
          <p:nvPr/>
        </p:nvCxnSpPr>
        <p:spPr>
          <a:xfrm>
            <a:off x="18288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273" name="Google Shape;273;p9"/>
          <p:cNvCxnSpPr/>
          <p:nvPr/>
        </p:nvCxnSpPr>
        <p:spPr>
          <a:xfrm>
            <a:off x="27432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274" name="Google Shape;274;p9"/>
          <p:cNvCxnSpPr/>
          <p:nvPr/>
        </p:nvCxnSpPr>
        <p:spPr>
          <a:xfrm>
            <a:off x="36576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275" name="Google Shape;275;p9"/>
          <p:cNvCxnSpPr/>
          <p:nvPr/>
        </p:nvCxnSpPr>
        <p:spPr>
          <a:xfrm>
            <a:off x="45720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276" name="Google Shape;276;p9"/>
          <p:cNvCxnSpPr/>
          <p:nvPr/>
        </p:nvCxnSpPr>
        <p:spPr>
          <a:xfrm>
            <a:off x="54864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277" name="Google Shape;277;p9"/>
          <p:cNvCxnSpPr/>
          <p:nvPr/>
        </p:nvCxnSpPr>
        <p:spPr>
          <a:xfrm>
            <a:off x="64008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278" name="Google Shape;278;p9"/>
          <p:cNvCxnSpPr/>
          <p:nvPr/>
        </p:nvCxnSpPr>
        <p:spPr>
          <a:xfrm>
            <a:off x="73152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279" name="Google Shape;279;p9"/>
          <p:cNvCxnSpPr/>
          <p:nvPr/>
        </p:nvCxnSpPr>
        <p:spPr>
          <a:xfrm>
            <a:off x="8229600" y="0"/>
            <a:ext cx="0" cy="5143500"/>
          </a:xfrm>
          <a:prstGeom prst="straightConnector1">
            <a:avLst/>
          </a:prstGeom>
          <a:noFill/>
          <a:ln cap="flat" cmpd="sng" w="9525">
            <a:solidFill>
              <a:srgbClr val="162035"/>
            </a:solidFill>
            <a:prstDash val="solid"/>
            <a:round/>
            <a:headEnd len="sm" w="sm" type="none"/>
            <a:tailEnd len="sm" w="sm" type="none"/>
          </a:ln>
        </p:spPr>
      </p:cxnSp>
      <p:sp>
        <p:nvSpPr>
          <p:cNvPr id="280" name="Google Shape;280;p9"/>
          <p:cNvSpPr/>
          <p:nvPr/>
        </p:nvSpPr>
        <p:spPr>
          <a:xfrm>
            <a:off x="457200" y="228600"/>
            <a:ext cx="1645920" cy="256032"/>
          </a:xfrm>
          <a:prstGeom prst="rect">
            <a:avLst/>
          </a:prstGeom>
          <a:solidFill>
            <a:srgbClr val="3B82F6">
              <a:alpha val="20000"/>
            </a:srgbClr>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9"/>
          <p:cNvSpPr/>
          <p:nvPr/>
        </p:nvSpPr>
        <p:spPr>
          <a:xfrm>
            <a:off x="457200" y="228600"/>
            <a:ext cx="16459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B82F6"/>
              </a:buClr>
              <a:buSzPts val="800"/>
              <a:buFont typeface="Calibri"/>
              <a:buNone/>
            </a:pPr>
            <a:r>
              <a:rPr b="1" i="0" lang="en-US" sz="1200" u="none" cap="none" strike="noStrike">
                <a:solidFill>
                  <a:srgbClr val="3B82F6"/>
                </a:solidFill>
                <a:latin typeface="Calibri"/>
                <a:ea typeface="Calibri"/>
                <a:cs typeface="Calibri"/>
                <a:sym typeface="Calibri"/>
              </a:rPr>
              <a:t>FEATURE</a:t>
            </a:r>
            <a:endParaRPr b="0" i="0" sz="1200" u="none" cap="none" strike="noStrike">
              <a:solidFill>
                <a:schemeClr val="dk1"/>
              </a:solidFill>
              <a:latin typeface="Calibri"/>
              <a:ea typeface="Calibri"/>
              <a:cs typeface="Calibri"/>
              <a:sym typeface="Calibri"/>
            </a:endParaRPr>
          </a:p>
        </p:txBody>
      </p:sp>
      <p:sp>
        <p:nvSpPr>
          <p:cNvPr id="282" name="Google Shape;282;p9"/>
          <p:cNvSpPr/>
          <p:nvPr/>
        </p:nvSpPr>
        <p:spPr>
          <a:xfrm>
            <a:off x="457200" y="502925"/>
            <a:ext cx="5586300" cy="594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400"/>
              <a:buFont typeface="Trebuchet MS"/>
              <a:buNone/>
            </a:pPr>
            <a:r>
              <a:rPr b="1" i="0" lang="en-US" sz="2500" u="none" cap="none" strike="noStrike">
                <a:solidFill>
                  <a:srgbClr val="FFFFFF"/>
                </a:solidFill>
                <a:latin typeface="Trebuchet MS"/>
                <a:ea typeface="Trebuchet MS"/>
                <a:cs typeface="Trebuchet MS"/>
                <a:sym typeface="Trebuchet MS"/>
              </a:rPr>
              <a:t>AI Chat — Natural Language Queries</a:t>
            </a:r>
            <a:endParaRPr b="0" i="0" sz="2500" u="none" cap="none" strike="noStrike">
              <a:solidFill>
                <a:schemeClr val="dk1"/>
              </a:solidFill>
              <a:latin typeface="Calibri"/>
              <a:ea typeface="Calibri"/>
              <a:cs typeface="Calibri"/>
              <a:sym typeface="Calibri"/>
            </a:endParaRPr>
          </a:p>
        </p:txBody>
      </p:sp>
      <p:sp>
        <p:nvSpPr>
          <p:cNvPr id="283" name="Google Shape;283;p9"/>
          <p:cNvSpPr/>
          <p:nvPr/>
        </p:nvSpPr>
        <p:spPr>
          <a:xfrm>
            <a:off x="457200" y="1234440"/>
            <a:ext cx="4114800" cy="8229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Users type questions in plain English. The system extracts intent and parameters to understand the user query, runs the constraint algorithm, and returns both a natural language answer and a visual analysis card.</a:t>
            </a:r>
            <a:endParaRPr b="0" i="0" sz="1200" u="none" cap="none" strike="noStrike">
              <a:solidFill>
                <a:schemeClr val="dk1"/>
              </a:solidFill>
              <a:latin typeface="Calibri"/>
              <a:ea typeface="Calibri"/>
              <a:cs typeface="Calibri"/>
              <a:sym typeface="Calibri"/>
            </a:endParaRPr>
          </a:p>
        </p:txBody>
      </p:sp>
      <p:sp>
        <p:nvSpPr>
          <p:cNvPr id="284" name="Google Shape;284;p9"/>
          <p:cNvSpPr/>
          <p:nvPr/>
        </p:nvSpPr>
        <p:spPr>
          <a:xfrm>
            <a:off x="457200" y="2240280"/>
            <a:ext cx="4114800" cy="1097280"/>
          </a:xfrm>
          <a:prstGeom prst="rect">
            <a:avLst/>
          </a:prstGeom>
          <a:solidFill>
            <a:srgbClr val="0F1A2E"/>
          </a:solidFill>
          <a:ln cap="flat" cmpd="sng" w="12700">
            <a:solidFill>
              <a:srgbClr val="162035"/>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9"/>
          <p:cNvSpPr/>
          <p:nvPr/>
        </p:nvSpPr>
        <p:spPr>
          <a:xfrm>
            <a:off x="457200" y="2240280"/>
            <a:ext cx="4114800" cy="54864"/>
          </a:xfrm>
          <a:prstGeom prst="rect">
            <a:avLst/>
          </a:prstGeom>
          <a:solidFill>
            <a:srgbClr val="38BDF8"/>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9"/>
          <p:cNvSpPr/>
          <p:nvPr/>
        </p:nvSpPr>
        <p:spPr>
          <a:xfrm>
            <a:off x="594360" y="2350008"/>
            <a:ext cx="384048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8BDF8"/>
              </a:buClr>
              <a:buSzPts val="1300"/>
              <a:buFont typeface="Trebuchet MS"/>
              <a:buNone/>
            </a:pPr>
            <a:r>
              <a:rPr b="1" i="0" lang="en-US" sz="1300" u="none" cap="none" strike="noStrike">
                <a:solidFill>
                  <a:srgbClr val="38BDF8"/>
                </a:solidFill>
                <a:latin typeface="Trebuchet MS"/>
                <a:ea typeface="Trebuchet MS"/>
                <a:cs typeface="Trebuchet MS"/>
                <a:sym typeface="Trebuchet MS"/>
              </a:rPr>
              <a:t>Call 1 — NLU Parser</a:t>
            </a:r>
            <a:endParaRPr b="0" i="0" sz="1300" u="none" cap="none" strike="noStrike">
              <a:solidFill>
                <a:schemeClr val="dk1"/>
              </a:solidFill>
              <a:latin typeface="Calibri"/>
              <a:ea typeface="Calibri"/>
              <a:cs typeface="Calibri"/>
              <a:sym typeface="Calibri"/>
            </a:endParaRPr>
          </a:p>
        </p:txBody>
      </p:sp>
      <p:sp>
        <p:nvSpPr>
          <p:cNvPr id="287" name="Google Shape;287;p9"/>
          <p:cNvSpPr/>
          <p:nvPr/>
        </p:nvSpPr>
        <p:spPr>
          <a:xfrm>
            <a:off x="594360" y="2697480"/>
            <a:ext cx="3840480" cy="594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Extracts intent, part, warehouse, quantity overrides from natural language. Returns response in structured JSON format.</a:t>
            </a:r>
            <a:endParaRPr b="0" i="0" sz="1100" u="none" cap="none" strike="noStrike">
              <a:solidFill>
                <a:schemeClr val="dk1"/>
              </a:solidFill>
              <a:latin typeface="Calibri"/>
              <a:ea typeface="Calibri"/>
              <a:cs typeface="Calibri"/>
              <a:sym typeface="Calibri"/>
            </a:endParaRPr>
          </a:p>
        </p:txBody>
      </p:sp>
      <p:sp>
        <p:nvSpPr>
          <p:cNvPr id="288" name="Google Shape;288;p9"/>
          <p:cNvSpPr/>
          <p:nvPr/>
        </p:nvSpPr>
        <p:spPr>
          <a:xfrm>
            <a:off x="457200" y="3474720"/>
            <a:ext cx="4114800" cy="1097280"/>
          </a:xfrm>
          <a:prstGeom prst="rect">
            <a:avLst/>
          </a:prstGeom>
          <a:solidFill>
            <a:srgbClr val="0F1A2E"/>
          </a:solidFill>
          <a:ln cap="flat" cmpd="sng" w="12700">
            <a:solidFill>
              <a:srgbClr val="162035"/>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9"/>
          <p:cNvSpPr/>
          <p:nvPr/>
        </p:nvSpPr>
        <p:spPr>
          <a:xfrm>
            <a:off x="457200" y="3474720"/>
            <a:ext cx="4114800" cy="54864"/>
          </a:xfrm>
          <a:prstGeom prst="rect">
            <a:avLst/>
          </a:prstGeom>
          <a:solidFill>
            <a:srgbClr val="A78BFA"/>
          </a:solidFill>
          <a:ln cap="flat" cmpd="sng" w="12700">
            <a:solidFill>
              <a:srgbClr val="A78B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9"/>
          <p:cNvSpPr/>
          <p:nvPr/>
        </p:nvSpPr>
        <p:spPr>
          <a:xfrm>
            <a:off x="594360" y="3584448"/>
            <a:ext cx="384048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A78BFA"/>
              </a:buClr>
              <a:buSzPts val="1300"/>
              <a:buFont typeface="Trebuchet MS"/>
              <a:buNone/>
            </a:pPr>
            <a:r>
              <a:rPr b="1" i="0" lang="en-US" sz="1300" u="none" cap="none" strike="noStrike">
                <a:solidFill>
                  <a:srgbClr val="A78BFA"/>
                </a:solidFill>
                <a:latin typeface="Trebuchet MS"/>
                <a:ea typeface="Trebuchet MS"/>
                <a:cs typeface="Trebuchet MS"/>
                <a:sym typeface="Trebuchet MS"/>
              </a:rPr>
              <a:t>Call 2 — Response Engine</a:t>
            </a:r>
            <a:endParaRPr b="0" i="0" sz="1300" u="none" cap="none" strike="noStrike">
              <a:solidFill>
                <a:schemeClr val="dk1"/>
              </a:solidFill>
              <a:latin typeface="Calibri"/>
              <a:ea typeface="Calibri"/>
              <a:cs typeface="Calibri"/>
              <a:sym typeface="Calibri"/>
            </a:endParaRPr>
          </a:p>
        </p:txBody>
      </p:sp>
      <p:sp>
        <p:nvSpPr>
          <p:cNvPr id="291" name="Google Shape;291;p9"/>
          <p:cNvSpPr/>
          <p:nvPr/>
        </p:nvSpPr>
        <p:spPr>
          <a:xfrm>
            <a:off x="594360" y="3931920"/>
            <a:ext cx="3840480" cy="594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Takes algorithm output + original question, generates a concise plain-English answer citing real numbers. </a:t>
            </a:r>
            <a:endParaRPr b="0" i="0" sz="1100" u="none" cap="none" strike="noStrike">
              <a:solidFill>
                <a:schemeClr val="dk1"/>
              </a:solidFill>
              <a:latin typeface="Calibri"/>
              <a:ea typeface="Calibri"/>
              <a:cs typeface="Calibri"/>
              <a:sym typeface="Calibri"/>
            </a:endParaRPr>
          </a:p>
        </p:txBody>
      </p:sp>
      <p:sp>
        <p:nvSpPr>
          <p:cNvPr id="292" name="Google Shape;292;p9"/>
          <p:cNvSpPr/>
          <p:nvPr/>
        </p:nvSpPr>
        <p:spPr>
          <a:xfrm>
            <a:off x="4754880" y="1188720"/>
            <a:ext cx="4023360" cy="3657600"/>
          </a:xfrm>
          <a:prstGeom prst="rect">
            <a:avLst/>
          </a:prstGeom>
          <a:solidFill>
            <a:srgbClr val="0F1A2E"/>
          </a:solidFill>
          <a:ln cap="flat" cmpd="sng" w="12700">
            <a:solidFill>
              <a:srgbClr val="162035"/>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9"/>
          <p:cNvSpPr/>
          <p:nvPr/>
        </p:nvSpPr>
        <p:spPr>
          <a:xfrm>
            <a:off x="4754880" y="1188720"/>
            <a:ext cx="4023360" cy="54864"/>
          </a:xfrm>
          <a:prstGeom prst="rect">
            <a:avLst/>
          </a:prstGeom>
          <a:solidFill>
            <a:srgbClr val="3B82F6"/>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9"/>
          <p:cNvSpPr/>
          <p:nvPr/>
        </p:nvSpPr>
        <p:spPr>
          <a:xfrm>
            <a:off x="4892040" y="1353312"/>
            <a:ext cx="374904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B82F6"/>
              </a:buClr>
              <a:buSzPts val="1000"/>
              <a:buFont typeface="Calibri"/>
              <a:buNone/>
            </a:pPr>
            <a:r>
              <a:rPr b="1" i="0" lang="en-US" sz="1000" u="none" cap="none" strike="noStrike">
                <a:solidFill>
                  <a:srgbClr val="3B82F6"/>
                </a:solidFill>
                <a:latin typeface="Calibri"/>
                <a:ea typeface="Calibri"/>
                <a:cs typeface="Calibri"/>
                <a:sym typeface="Calibri"/>
              </a:rPr>
              <a:t>SAMPLE QUERIES</a:t>
            </a:r>
            <a:endParaRPr b="0" i="0" sz="1000" u="none" cap="none" strike="noStrike">
              <a:solidFill>
                <a:schemeClr val="dk1"/>
              </a:solidFill>
              <a:latin typeface="Calibri"/>
              <a:ea typeface="Calibri"/>
              <a:cs typeface="Calibri"/>
              <a:sym typeface="Calibri"/>
            </a:endParaRPr>
          </a:p>
        </p:txBody>
      </p:sp>
      <p:sp>
        <p:nvSpPr>
          <p:cNvPr id="295" name="Google Shape;295;p9"/>
          <p:cNvSpPr/>
          <p:nvPr/>
        </p:nvSpPr>
        <p:spPr>
          <a:xfrm>
            <a:off x="4892040" y="1828800"/>
            <a:ext cx="3749040" cy="475488"/>
          </a:xfrm>
          <a:prstGeom prst="rect">
            <a:avLst/>
          </a:prstGeom>
          <a:solidFill>
            <a:srgbClr val="0A1220"/>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9"/>
          <p:cNvSpPr/>
          <p:nvPr/>
        </p:nvSpPr>
        <p:spPr>
          <a:xfrm>
            <a:off x="5029200" y="1828800"/>
            <a:ext cx="3566160" cy="47548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8BDF8"/>
              </a:buClr>
              <a:buSzPts val="1100"/>
              <a:buFont typeface="Consolas"/>
              <a:buNone/>
            </a:pPr>
            <a:r>
              <a:rPr b="0" i="1" lang="en-US" sz="1100" u="none" cap="none" strike="noStrike">
                <a:solidFill>
                  <a:srgbClr val="38BDF8"/>
                </a:solidFill>
                <a:latin typeface="Consolas"/>
                <a:ea typeface="Consolas"/>
                <a:cs typeface="Consolas"/>
                <a:sym typeface="Consolas"/>
              </a:rPr>
              <a:t>"How many constrained VINs for Part D at Warehouse 3?"</a:t>
            </a:r>
            <a:endParaRPr b="0" i="0" sz="1100" u="none" cap="none" strike="noStrike">
              <a:solidFill>
                <a:schemeClr val="dk1"/>
              </a:solidFill>
              <a:latin typeface="Calibri"/>
              <a:ea typeface="Calibri"/>
              <a:cs typeface="Calibri"/>
              <a:sym typeface="Calibri"/>
            </a:endParaRPr>
          </a:p>
        </p:txBody>
      </p:sp>
      <p:sp>
        <p:nvSpPr>
          <p:cNvPr id="297" name="Google Shape;297;p9"/>
          <p:cNvSpPr/>
          <p:nvPr/>
        </p:nvSpPr>
        <p:spPr>
          <a:xfrm>
            <a:off x="4892040" y="2395728"/>
            <a:ext cx="3749040" cy="475488"/>
          </a:xfrm>
          <a:prstGeom prst="rect">
            <a:avLst/>
          </a:prstGeom>
          <a:solidFill>
            <a:srgbClr val="0A1220"/>
          </a:solidFill>
          <a:ln cap="flat" cmpd="sng" w="12700">
            <a:solidFill>
              <a:srgbClr val="A78B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9"/>
          <p:cNvSpPr/>
          <p:nvPr/>
        </p:nvSpPr>
        <p:spPr>
          <a:xfrm>
            <a:off x="5029200" y="2395728"/>
            <a:ext cx="3566160" cy="47548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A78BFA"/>
              </a:buClr>
              <a:buSzPts val="1100"/>
              <a:buFont typeface="Consolas"/>
              <a:buNone/>
            </a:pPr>
            <a:r>
              <a:rPr b="0" i="1" lang="en-US" sz="1100" u="none" cap="none" strike="noStrike">
                <a:solidFill>
                  <a:srgbClr val="A78BFA"/>
                </a:solidFill>
                <a:latin typeface="Consolas"/>
                <a:ea typeface="Consolas"/>
                <a:cs typeface="Consolas"/>
                <a:sym typeface="Consolas"/>
              </a:rPr>
              <a:t>"I have 5 pcs of Part B at WH-1 — why still constrained?"</a:t>
            </a:r>
            <a:endParaRPr b="0" i="0" sz="1100" u="none" cap="none" strike="noStrike">
              <a:solidFill>
                <a:schemeClr val="dk1"/>
              </a:solidFill>
              <a:latin typeface="Calibri"/>
              <a:ea typeface="Calibri"/>
              <a:cs typeface="Calibri"/>
              <a:sym typeface="Calibri"/>
            </a:endParaRPr>
          </a:p>
        </p:txBody>
      </p:sp>
      <p:sp>
        <p:nvSpPr>
          <p:cNvPr id="299" name="Google Shape;299;p9"/>
          <p:cNvSpPr/>
          <p:nvPr/>
        </p:nvSpPr>
        <p:spPr>
          <a:xfrm>
            <a:off x="4892040" y="2962656"/>
            <a:ext cx="3749040" cy="475488"/>
          </a:xfrm>
          <a:prstGeom prst="rect">
            <a:avLst/>
          </a:prstGeom>
          <a:solidFill>
            <a:srgbClr val="0A1220"/>
          </a:solidFill>
          <a:ln cap="flat" cmpd="sng" w="12700">
            <a:solidFill>
              <a:srgbClr val="34D3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9"/>
          <p:cNvSpPr/>
          <p:nvPr/>
        </p:nvSpPr>
        <p:spPr>
          <a:xfrm>
            <a:off x="5029200" y="2962656"/>
            <a:ext cx="3566160" cy="47548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4D399"/>
              </a:buClr>
              <a:buSzPts val="1100"/>
              <a:buFont typeface="Consolas"/>
              <a:buNone/>
            </a:pPr>
            <a:r>
              <a:rPr b="0" i="1" lang="en-US" sz="1100" u="none" cap="none" strike="noStrike">
                <a:solidFill>
                  <a:srgbClr val="34D399"/>
                </a:solidFill>
                <a:latin typeface="Consolas"/>
                <a:ea typeface="Consolas"/>
                <a:cs typeface="Consolas"/>
                <a:sym typeface="Consolas"/>
              </a:rPr>
              <a:t>"Which part has the highest constraint rate?"</a:t>
            </a:r>
            <a:endParaRPr b="0" i="0" sz="1100" u="none" cap="none" strike="noStrike">
              <a:solidFill>
                <a:schemeClr val="dk1"/>
              </a:solidFill>
              <a:latin typeface="Calibri"/>
              <a:ea typeface="Calibri"/>
              <a:cs typeface="Calibri"/>
              <a:sym typeface="Calibri"/>
            </a:endParaRPr>
          </a:p>
        </p:txBody>
      </p:sp>
      <p:sp>
        <p:nvSpPr>
          <p:cNvPr id="301" name="Google Shape;301;p9"/>
          <p:cNvSpPr/>
          <p:nvPr/>
        </p:nvSpPr>
        <p:spPr>
          <a:xfrm>
            <a:off x="4892040" y="3529584"/>
            <a:ext cx="3749040" cy="475488"/>
          </a:xfrm>
          <a:prstGeom prst="rect">
            <a:avLst/>
          </a:prstGeom>
          <a:solidFill>
            <a:srgbClr val="0A1220"/>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9"/>
          <p:cNvSpPr/>
          <p:nvPr/>
        </p:nvSpPr>
        <p:spPr>
          <a:xfrm>
            <a:off x="5029200" y="3529584"/>
            <a:ext cx="3566160" cy="47548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59E0B"/>
              </a:buClr>
              <a:buSzPts val="1100"/>
              <a:buFont typeface="Consolas"/>
              <a:buNone/>
            </a:pPr>
            <a:r>
              <a:rPr b="0" i="1" lang="en-US" sz="1100" u="none" cap="none" strike="noStrike">
                <a:solidFill>
                  <a:srgbClr val="F59E0B"/>
                </a:solidFill>
                <a:latin typeface="Consolas"/>
                <a:ea typeface="Consolas"/>
                <a:cs typeface="Consolas"/>
                <a:sym typeface="Consolas"/>
              </a:rPr>
              <a:t>"Give me a summary of Warehouse 3"</a:t>
            </a:r>
            <a:endParaRPr b="0" i="0" sz="1100" u="none" cap="none" strike="noStrike">
              <a:solidFill>
                <a:schemeClr val="dk1"/>
              </a:solidFill>
              <a:latin typeface="Calibri"/>
              <a:ea typeface="Calibri"/>
              <a:cs typeface="Calibri"/>
              <a:sym typeface="Calibri"/>
            </a:endParaRPr>
          </a:p>
        </p:txBody>
      </p:sp>
      <p:sp>
        <p:nvSpPr>
          <p:cNvPr id="303" name="Google Shape;303;p9"/>
          <p:cNvSpPr/>
          <p:nvPr/>
        </p:nvSpPr>
        <p:spPr>
          <a:xfrm>
            <a:off x="4892040" y="4096512"/>
            <a:ext cx="3749040" cy="475488"/>
          </a:xfrm>
          <a:prstGeom prst="rect">
            <a:avLst/>
          </a:prstGeom>
          <a:solidFill>
            <a:srgbClr val="0A1220"/>
          </a:solidFill>
          <a:ln cap="flat" cmpd="sng" w="12700">
            <a:solidFill>
              <a:srgbClr val="FB923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9"/>
          <p:cNvSpPr/>
          <p:nvPr/>
        </p:nvSpPr>
        <p:spPr>
          <a:xfrm>
            <a:off x="5029200" y="4096512"/>
            <a:ext cx="3566160" cy="47548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B923C"/>
              </a:buClr>
              <a:buSzPts val="1100"/>
              <a:buFont typeface="Consolas"/>
              <a:buNone/>
            </a:pPr>
            <a:r>
              <a:rPr b="0" i="1" lang="en-US" sz="1100" u="none" cap="none" strike="noStrike">
                <a:solidFill>
                  <a:srgbClr val="FB923C"/>
                </a:solidFill>
                <a:latin typeface="Consolas"/>
                <a:ea typeface="Consolas"/>
                <a:cs typeface="Consolas"/>
                <a:sym typeface="Consolas"/>
              </a:rPr>
              <a:t>"How many total orders for Part A?"</a:t>
            </a:r>
            <a:endParaRPr b="0" i="0" sz="1100" u="none" cap="none" strike="noStrike">
              <a:solidFill>
                <a:schemeClr val="dk1"/>
              </a:solidFill>
              <a:latin typeface="Calibri"/>
              <a:ea typeface="Calibri"/>
              <a:cs typeface="Calibri"/>
              <a:sym typeface="Calibri"/>
            </a:endParaRPr>
          </a:p>
        </p:txBody>
      </p:sp>
      <p:sp>
        <p:nvSpPr>
          <p:cNvPr id="305" name="Google Shape;305;p9"/>
          <p:cNvSpPr/>
          <p:nvPr/>
        </p:nvSpPr>
        <p:spPr>
          <a:xfrm>
            <a:off x="4892040" y="4754880"/>
            <a:ext cx="374904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4748B"/>
              </a:buClr>
              <a:buSzPts val="900"/>
              <a:buFont typeface="Consolas"/>
              <a:buNone/>
            </a:pPr>
            <a:r>
              <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B14"/>
        </a:solidFill>
      </p:bgPr>
    </p:bg>
    <p:spTree>
      <p:nvGrpSpPr>
        <p:cNvPr id="310" name="Shape 310"/>
        <p:cNvGrpSpPr/>
        <p:nvPr/>
      </p:nvGrpSpPr>
      <p:grpSpPr>
        <a:xfrm>
          <a:off x="0" y="0"/>
          <a:ext cx="0" cy="0"/>
          <a:chOff x="0" y="0"/>
          <a:chExt cx="0" cy="0"/>
        </a:xfrm>
      </p:grpSpPr>
      <p:sp>
        <p:nvSpPr>
          <p:cNvPr id="311" name="Google Shape;311;p10"/>
          <p:cNvSpPr/>
          <p:nvPr/>
        </p:nvSpPr>
        <p:spPr>
          <a:xfrm>
            <a:off x="0" y="0"/>
            <a:ext cx="9144000" cy="36576"/>
          </a:xfrm>
          <a:prstGeom prst="rect">
            <a:avLst/>
          </a:prstGeom>
          <a:solidFill>
            <a:srgbClr val="8B5CF6"/>
          </a:solidFill>
          <a:ln cap="flat" cmpd="sng" w="1270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12" name="Google Shape;312;p10"/>
          <p:cNvCxnSpPr/>
          <p:nvPr/>
        </p:nvCxnSpPr>
        <p:spPr>
          <a:xfrm>
            <a:off x="9144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313" name="Google Shape;313;p10"/>
          <p:cNvCxnSpPr/>
          <p:nvPr/>
        </p:nvCxnSpPr>
        <p:spPr>
          <a:xfrm>
            <a:off x="18288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314" name="Google Shape;314;p10"/>
          <p:cNvCxnSpPr/>
          <p:nvPr/>
        </p:nvCxnSpPr>
        <p:spPr>
          <a:xfrm>
            <a:off x="27432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315" name="Google Shape;315;p10"/>
          <p:cNvCxnSpPr/>
          <p:nvPr/>
        </p:nvCxnSpPr>
        <p:spPr>
          <a:xfrm>
            <a:off x="36576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316" name="Google Shape;316;p10"/>
          <p:cNvCxnSpPr/>
          <p:nvPr/>
        </p:nvCxnSpPr>
        <p:spPr>
          <a:xfrm>
            <a:off x="45720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317" name="Google Shape;317;p10"/>
          <p:cNvCxnSpPr/>
          <p:nvPr/>
        </p:nvCxnSpPr>
        <p:spPr>
          <a:xfrm>
            <a:off x="54864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318" name="Google Shape;318;p10"/>
          <p:cNvCxnSpPr/>
          <p:nvPr/>
        </p:nvCxnSpPr>
        <p:spPr>
          <a:xfrm>
            <a:off x="64008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319" name="Google Shape;319;p10"/>
          <p:cNvCxnSpPr/>
          <p:nvPr/>
        </p:nvCxnSpPr>
        <p:spPr>
          <a:xfrm>
            <a:off x="73152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320" name="Google Shape;320;p10"/>
          <p:cNvCxnSpPr/>
          <p:nvPr/>
        </p:nvCxnSpPr>
        <p:spPr>
          <a:xfrm>
            <a:off x="8229600" y="0"/>
            <a:ext cx="0" cy="5143500"/>
          </a:xfrm>
          <a:prstGeom prst="straightConnector1">
            <a:avLst/>
          </a:prstGeom>
          <a:noFill/>
          <a:ln cap="flat" cmpd="sng" w="9525">
            <a:solidFill>
              <a:srgbClr val="162035"/>
            </a:solidFill>
            <a:prstDash val="solid"/>
            <a:round/>
            <a:headEnd len="sm" w="sm" type="none"/>
            <a:tailEnd len="sm" w="sm" type="none"/>
          </a:ln>
        </p:spPr>
      </p:cxnSp>
      <p:sp>
        <p:nvSpPr>
          <p:cNvPr id="321" name="Google Shape;321;p10"/>
          <p:cNvSpPr/>
          <p:nvPr/>
        </p:nvSpPr>
        <p:spPr>
          <a:xfrm>
            <a:off x="457200" y="228600"/>
            <a:ext cx="1645920" cy="256032"/>
          </a:xfrm>
          <a:prstGeom prst="rect">
            <a:avLst/>
          </a:prstGeom>
          <a:solidFill>
            <a:srgbClr val="8B5CF6">
              <a:alpha val="20000"/>
            </a:srgbClr>
          </a:solidFill>
          <a:ln cap="flat" cmpd="sng" w="1270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10"/>
          <p:cNvSpPr/>
          <p:nvPr/>
        </p:nvSpPr>
        <p:spPr>
          <a:xfrm>
            <a:off x="457200" y="228600"/>
            <a:ext cx="16459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B5CF6"/>
              </a:buClr>
              <a:buSzPts val="800"/>
              <a:buFont typeface="Calibri"/>
              <a:buNone/>
            </a:pPr>
            <a:r>
              <a:rPr b="1" i="0" lang="en-US" sz="1200" u="none" cap="none" strike="noStrike">
                <a:solidFill>
                  <a:srgbClr val="8B5CF6"/>
                </a:solidFill>
                <a:latin typeface="Calibri"/>
                <a:ea typeface="Calibri"/>
                <a:cs typeface="Calibri"/>
                <a:sym typeface="Calibri"/>
              </a:rPr>
              <a:t>FEATURE</a:t>
            </a:r>
            <a:endParaRPr b="0" i="0" sz="1200" u="none" cap="none" strike="noStrike">
              <a:solidFill>
                <a:schemeClr val="dk1"/>
              </a:solidFill>
              <a:latin typeface="Calibri"/>
              <a:ea typeface="Calibri"/>
              <a:cs typeface="Calibri"/>
              <a:sym typeface="Calibri"/>
            </a:endParaRPr>
          </a:p>
        </p:txBody>
      </p:sp>
      <p:sp>
        <p:nvSpPr>
          <p:cNvPr id="323" name="Google Shape;323;p10"/>
          <p:cNvSpPr/>
          <p:nvPr/>
        </p:nvSpPr>
        <p:spPr>
          <a:xfrm>
            <a:off x="457200" y="548640"/>
            <a:ext cx="8229600" cy="5943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What-If Scenario Simulation</a:t>
            </a:r>
            <a:endParaRPr b="0" i="0" sz="2200" u="none" cap="none" strike="noStrike">
              <a:solidFill>
                <a:schemeClr val="dk1"/>
              </a:solidFill>
              <a:latin typeface="Calibri"/>
              <a:ea typeface="Calibri"/>
              <a:cs typeface="Calibri"/>
              <a:sym typeface="Calibri"/>
            </a:endParaRPr>
          </a:p>
        </p:txBody>
      </p:sp>
      <p:sp>
        <p:nvSpPr>
          <p:cNvPr id="324" name="Google Shape;324;p10"/>
          <p:cNvSpPr/>
          <p:nvPr/>
        </p:nvSpPr>
        <p:spPr>
          <a:xfrm>
            <a:off x="457200" y="1234450"/>
            <a:ext cx="5232300" cy="594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Add inventory deltas to any part/warehouse combination, run the FIFO algorithm twice (baseline vs scenario), and instantly see which orders get resolved.</a:t>
            </a:r>
            <a:endParaRPr b="0" i="0" sz="1200" u="none" cap="none" strike="noStrike">
              <a:solidFill>
                <a:schemeClr val="dk1"/>
              </a:solidFill>
              <a:latin typeface="Calibri"/>
              <a:ea typeface="Calibri"/>
              <a:cs typeface="Calibri"/>
              <a:sym typeface="Calibri"/>
            </a:endParaRPr>
          </a:p>
        </p:txBody>
      </p:sp>
      <p:sp>
        <p:nvSpPr>
          <p:cNvPr id="325" name="Google Shape;325;p10"/>
          <p:cNvSpPr/>
          <p:nvPr/>
        </p:nvSpPr>
        <p:spPr>
          <a:xfrm>
            <a:off x="1188720" y="1965960"/>
            <a:ext cx="685800" cy="685800"/>
          </a:xfrm>
          <a:prstGeom prst="ellipse">
            <a:avLst/>
          </a:prstGeom>
          <a:solidFill>
            <a:srgbClr val="38BDF8">
              <a:alpha val="80000"/>
            </a:srgbClr>
          </a:solidFill>
          <a:ln cap="flat" cmpd="sng" w="254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10"/>
          <p:cNvSpPr/>
          <p:nvPr/>
        </p:nvSpPr>
        <p:spPr>
          <a:xfrm>
            <a:off x="1188720" y="196596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8BDF8"/>
              </a:buClr>
              <a:buSzPts val="1800"/>
              <a:buFont typeface="Trebuchet MS"/>
              <a:buNone/>
            </a:pPr>
            <a:r>
              <a:rPr b="1" i="0" lang="en-US" sz="1800" u="none" cap="none" strike="noStrike">
                <a:solidFill>
                  <a:srgbClr val="38BDF8"/>
                </a:solidFill>
                <a:latin typeface="Trebuchet MS"/>
                <a:ea typeface="Trebuchet MS"/>
                <a:cs typeface="Trebuchet MS"/>
                <a:sym typeface="Trebuchet MS"/>
              </a:rPr>
              <a:t>1</a:t>
            </a:r>
            <a:endParaRPr b="0" i="0" sz="1800" u="none" cap="none" strike="noStrike">
              <a:solidFill>
                <a:schemeClr val="dk1"/>
              </a:solidFill>
              <a:latin typeface="Calibri"/>
              <a:ea typeface="Calibri"/>
              <a:cs typeface="Calibri"/>
              <a:sym typeface="Calibri"/>
            </a:endParaRPr>
          </a:p>
        </p:txBody>
      </p:sp>
      <p:cxnSp>
        <p:nvCxnSpPr>
          <p:cNvPr id="327" name="Google Shape;327;p10"/>
          <p:cNvCxnSpPr/>
          <p:nvPr/>
        </p:nvCxnSpPr>
        <p:spPr>
          <a:xfrm>
            <a:off x="2423160" y="2304288"/>
            <a:ext cx="384048" cy="0"/>
          </a:xfrm>
          <a:prstGeom prst="straightConnector1">
            <a:avLst/>
          </a:prstGeom>
          <a:noFill/>
          <a:ln cap="flat" cmpd="sng" w="19050">
            <a:solidFill>
              <a:srgbClr val="38BDF8"/>
            </a:solidFill>
            <a:prstDash val="solid"/>
            <a:round/>
            <a:headEnd len="sm" w="sm" type="none"/>
            <a:tailEnd len="sm" w="sm" type="none"/>
          </a:ln>
        </p:spPr>
      </p:cxnSp>
      <p:sp>
        <p:nvSpPr>
          <p:cNvPr id="328" name="Google Shape;328;p10"/>
          <p:cNvSpPr/>
          <p:nvPr/>
        </p:nvSpPr>
        <p:spPr>
          <a:xfrm>
            <a:off x="457200" y="2834640"/>
            <a:ext cx="2029968" cy="1691640"/>
          </a:xfrm>
          <a:prstGeom prst="rect">
            <a:avLst/>
          </a:prstGeom>
          <a:solidFill>
            <a:srgbClr val="0F1A2E"/>
          </a:solidFill>
          <a:ln cap="flat" cmpd="sng" w="12700">
            <a:solidFill>
              <a:srgbClr val="162035"/>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10"/>
          <p:cNvSpPr/>
          <p:nvPr/>
        </p:nvSpPr>
        <p:spPr>
          <a:xfrm>
            <a:off x="457200" y="2834640"/>
            <a:ext cx="2029968" cy="54864"/>
          </a:xfrm>
          <a:prstGeom prst="rect">
            <a:avLst/>
          </a:prstGeom>
          <a:solidFill>
            <a:srgbClr val="38BDF8"/>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10"/>
          <p:cNvSpPr/>
          <p:nvPr/>
        </p:nvSpPr>
        <p:spPr>
          <a:xfrm>
            <a:off x="566928" y="2944368"/>
            <a:ext cx="182880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8BDF8"/>
              </a:buClr>
              <a:buSzPts val="1200"/>
              <a:buFont typeface="Trebuchet MS"/>
              <a:buNone/>
            </a:pPr>
            <a:r>
              <a:rPr b="1" i="0" lang="en-US" sz="1200" u="none" cap="none" strike="noStrike">
                <a:solidFill>
                  <a:srgbClr val="38BDF8"/>
                </a:solidFill>
                <a:latin typeface="Trebuchet MS"/>
                <a:ea typeface="Trebuchet MS"/>
                <a:cs typeface="Trebuchet MS"/>
                <a:sym typeface="Trebuchet MS"/>
              </a:rPr>
              <a:t>Define</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38BDF8"/>
              </a:buClr>
              <a:buSzPts val="1200"/>
              <a:buFont typeface="Trebuchet MS"/>
              <a:buNone/>
            </a:pPr>
            <a:r>
              <a:rPr b="1" i="0" lang="en-US" sz="1200" u="none" cap="none" strike="noStrike">
                <a:solidFill>
                  <a:srgbClr val="38BDF8"/>
                </a:solidFill>
                <a:latin typeface="Trebuchet MS"/>
                <a:ea typeface="Trebuchet MS"/>
                <a:cs typeface="Trebuchet MS"/>
                <a:sym typeface="Trebuchet MS"/>
              </a:rPr>
              <a:t>Adjustments</a:t>
            </a:r>
            <a:endParaRPr b="0" i="0" sz="1200" u="none" cap="none" strike="noStrike">
              <a:solidFill>
                <a:schemeClr val="dk1"/>
              </a:solidFill>
              <a:latin typeface="Calibri"/>
              <a:ea typeface="Calibri"/>
              <a:cs typeface="Calibri"/>
              <a:sym typeface="Calibri"/>
            </a:endParaRPr>
          </a:p>
        </p:txBody>
      </p:sp>
      <p:sp>
        <p:nvSpPr>
          <p:cNvPr id="331" name="Google Shape;331;p10"/>
          <p:cNvSpPr/>
          <p:nvPr/>
        </p:nvSpPr>
        <p:spPr>
          <a:xfrm>
            <a:off x="566928" y="3474720"/>
            <a:ext cx="1828800" cy="10058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Select part, warehouse, and +/- delta for on-hand and in-transit stock</a:t>
            </a:r>
            <a:endParaRPr b="0" i="0" sz="1100" u="none" cap="none" strike="noStrike">
              <a:solidFill>
                <a:schemeClr val="dk1"/>
              </a:solidFill>
              <a:latin typeface="Calibri"/>
              <a:ea typeface="Calibri"/>
              <a:cs typeface="Calibri"/>
              <a:sym typeface="Calibri"/>
            </a:endParaRPr>
          </a:p>
        </p:txBody>
      </p:sp>
      <p:sp>
        <p:nvSpPr>
          <p:cNvPr id="332" name="Google Shape;332;p10"/>
          <p:cNvSpPr/>
          <p:nvPr/>
        </p:nvSpPr>
        <p:spPr>
          <a:xfrm>
            <a:off x="3355848" y="1965960"/>
            <a:ext cx="685800" cy="685800"/>
          </a:xfrm>
          <a:prstGeom prst="ellipse">
            <a:avLst/>
          </a:prstGeom>
          <a:solidFill>
            <a:srgbClr val="A78BFA">
              <a:alpha val="80000"/>
            </a:srgbClr>
          </a:solidFill>
          <a:ln cap="flat" cmpd="sng" w="25400">
            <a:solidFill>
              <a:srgbClr val="A78B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10"/>
          <p:cNvSpPr/>
          <p:nvPr/>
        </p:nvSpPr>
        <p:spPr>
          <a:xfrm>
            <a:off x="3355848" y="196596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78BFA"/>
              </a:buClr>
              <a:buSzPts val="1800"/>
              <a:buFont typeface="Trebuchet MS"/>
              <a:buNone/>
            </a:pPr>
            <a:r>
              <a:rPr b="1" i="0" lang="en-US" sz="1800" u="none" cap="none" strike="noStrike">
                <a:solidFill>
                  <a:srgbClr val="A78BFA"/>
                </a:solidFill>
                <a:latin typeface="Trebuchet MS"/>
                <a:ea typeface="Trebuchet MS"/>
                <a:cs typeface="Trebuchet MS"/>
                <a:sym typeface="Trebuchet MS"/>
              </a:rPr>
              <a:t>2</a:t>
            </a:r>
            <a:endParaRPr b="0" i="0" sz="1800" u="none" cap="none" strike="noStrike">
              <a:solidFill>
                <a:schemeClr val="dk1"/>
              </a:solidFill>
              <a:latin typeface="Calibri"/>
              <a:ea typeface="Calibri"/>
              <a:cs typeface="Calibri"/>
              <a:sym typeface="Calibri"/>
            </a:endParaRPr>
          </a:p>
        </p:txBody>
      </p:sp>
      <p:cxnSp>
        <p:nvCxnSpPr>
          <p:cNvPr id="334" name="Google Shape;334;p10"/>
          <p:cNvCxnSpPr/>
          <p:nvPr/>
        </p:nvCxnSpPr>
        <p:spPr>
          <a:xfrm>
            <a:off x="4590288" y="2304288"/>
            <a:ext cx="384048" cy="0"/>
          </a:xfrm>
          <a:prstGeom prst="straightConnector1">
            <a:avLst/>
          </a:prstGeom>
          <a:noFill/>
          <a:ln cap="flat" cmpd="sng" w="19050">
            <a:solidFill>
              <a:srgbClr val="A78BFA"/>
            </a:solidFill>
            <a:prstDash val="solid"/>
            <a:round/>
            <a:headEnd len="sm" w="sm" type="none"/>
            <a:tailEnd len="sm" w="sm" type="none"/>
          </a:ln>
        </p:spPr>
      </p:cxnSp>
      <p:sp>
        <p:nvSpPr>
          <p:cNvPr id="335" name="Google Shape;335;p10"/>
          <p:cNvSpPr/>
          <p:nvPr/>
        </p:nvSpPr>
        <p:spPr>
          <a:xfrm>
            <a:off x="2624328" y="2834640"/>
            <a:ext cx="2029968" cy="1691640"/>
          </a:xfrm>
          <a:prstGeom prst="rect">
            <a:avLst/>
          </a:prstGeom>
          <a:solidFill>
            <a:srgbClr val="0F1A2E"/>
          </a:solidFill>
          <a:ln cap="flat" cmpd="sng" w="12700">
            <a:solidFill>
              <a:srgbClr val="162035"/>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10"/>
          <p:cNvSpPr/>
          <p:nvPr/>
        </p:nvSpPr>
        <p:spPr>
          <a:xfrm>
            <a:off x="2624328" y="2834640"/>
            <a:ext cx="2029968" cy="54864"/>
          </a:xfrm>
          <a:prstGeom prst="rect">
            <a:avLst/>
          </a:prstGeom>
          <a:solidFill>
            <a:srgbClr val="A78BFA"/>
          </a:solidFill>
          <a:ln cap="flat" cmpd="sng" w="12700">
            <a:solidFill>
              <a:srgbClr val="A78B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10"/>
          <p:cNvSpPr/>
          <p:nvPr/>
        </p:nvSpPr>
        <p:spPr>
          <a:xfrm>
            <a:off x="2734056" y="2944368"/>
            <a:ext cx="182880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A78BFA"/>
              </a:buClr>
              <a:buSzPts val="1200"/>
              <a:buFont typeface="Trebuchet MS"/>
              <a:buNone/>
            </a:pPr>
            <a:r>
              <a:rPr b="1" i="0" lang="en-US" sz="1200" u="none" cap="none" strike="noStrike">
                <a:solidFill>
                  <a:srgbClr val="A78BFA"/>
                </a:solidFill>
                <a:latin typeface="Trebuchet MS"/>
                <a:ea typeface="Trebuchet MS"/>
                <a:cs typeface="Trebuchet MS"/>
                <a:sym typeface="Trebuchet MS"/>
              </a:rPr>
              <a:t>Run Simulation</a:t>
            </a:r>
            <a:endParaRPr b="0" i="0" sz="1200" u="none" cap="none" strike="noStrike">
              <a:solidFill>
                <a:schemeClr val="dk1"/>
              </a:solidFill>
              <a:latin typeface="Calibri"/>
              <a:ea typeface="Calibri"/>
              <a:cs typeface="Calibri"/>
              <a:sym typeface="Calibri"/>
            </a:endParaRPr>
          </a:p>
        </p:txBody>
      </p:sp>
      <p:sp>
        <p:nvSpPr>
          <p:cNvPr id="338" name="Google Shape;338;p10"/>
          <p:cNvSpPr/>
          <p:nvPr/>
        </p:nvSpPr>
        <p:spPr>
          <a:xfrm>
            <a:off x="2734056" y="3474720"/>
            <a:ext cx="1828800" cy="10058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Algorithm runs on available and scenario inventory simultaneously</a:t>
            </a:r>
            <a:endParaRPr b="0" i="0" sz="1100" u="none" cap="none" strike="noStrike">
              <a:solidFill>
                <a:schemeClr val="dk1"/>
              </a:solidFill>
              <a:latin typeface="Calibri"/>
              <a:ea typeface="Calibri"/>
              <a:cs typeface="Calibri"/>
              <a:sym typeface="Calibri"/>
            </a:endParaRPr>
          </a:p>
        </p:txBody>
      </p:sp>
      <p:sp>
        <p:nvSpPr>
          <p:cNvPr id="339" name="Google Shape;339;p10"/>
          <p:cNvSpPr/>
          <p:nvPr/>
        </p:nvSpPr>
        <p:spPr>
          <a:xfrm>
            <a:off x="5522976" y="1965960"/>
            <a:ext cx="685800" cy="685800"/>
          </a:xfrm>
          <a:prstGeom prst="ellipse">
            <a:avLst/>
          </a:prstGeom>
          <a:solidFill>
            <a:srgbClr val="34D399">
              <a:alpha val="80000"/>
            </a:srgbClr>
          </a:solidFill>
          <a:ln cap="flat" cmpd="sng" w="25400">
            <a:solidFill>
              <a:srgbClr val="34D3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10"/>
          <p:cNvSpPr/>
          <p:nvPr/>
        </p:nvSpPr>
        <p:spPr>
          <a:xfrm>
            <a:off x="5522976" y="196596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4D399"/>
              </a:buClr>
              <a:buSzPts val="1800"/>
              <a:buFont typeface="Trebuchet MS"/>
              <a:buNone/>
            </a:pPr>
            <a:r>
              <a:rPr b="1" i="0" lang="en-US" sz="1800" u="none" cap="none" strike="noStrike">
                <a:solidFill>
                  <a:srgbClr val="34D399"/>
                </a:solidFill>
                <a:latin typeface="Trebuchet MS"/>
                <a:ea typeface="Trebuchet MS"/>
                <a:cs typeface="Trebuchet MS"/>
                <a:sym typeface="Trebuchet MS"/>
              </a:rPr>
              <a:t>3</a:t>
            </a:r>
            <a:endParaRPr b="0" i="0" sz="1800" u="none" cap="none" strike="noStrike">
              <a:solidFill>
                <a:schemeClr val="dk1"/>
              </a:solidFill>
              <a:latin typeface="Calibri"/>
              <a:ea typeface="Calibri"/>
              <a:cs typeface="Calibri"/>
              <a:sym typeface="Calibri"/>
            </a:endParaRPr>
          </a:p>
        </p:txBody>
      </p:sp>
      <p:cxnSp>
        <p:nvCxnSpPr>
          <p:cNvPr id="341" name="Google Shape;341;p10"/>
          <p:cNvCxnSpPr/>
          <p:nvPr/>
        </p:nvCxnSpPr>
        <p:spPr>
          <a:xfrm>
            <a:off x="6757416" y="2304288"/>
            <a:ext cx="384048" cy="0"/>
          </a:xfrm>
          <a:prstGeom prst="straightConnector1">
            <a:avLst/>
          </a:prstGeom>
          <a:noFill/>
          <a:ln cap="flat" cmpd="sng" w="19050">
            <a:solidFill>
              <a:srgbClr val="34D399"/>
            </a:solidFill>
            <a:prstDash val="solid"/>
            <a:round/>
            <a:headEnd len="sm" w="sm" type="none"/>
            <a:tailEnd len="sm" w="sm" type="none"/>
          </a:ln>
        </p:spPr>
      </p:cxnSp>
      <p:sp>
        <p:nvSpPr>
          <p:cNvPr id="342" name="Google Shape;342;p10"/>
          <p:cNvSpPr/>
          <p:nvPr/>
        </p:nvSpPr>
        <p:spPr>
          <a:xfrm>
            <a:off x="4791456" y="2834640"/>
            <a:ext cx="2029968" cy="1691640"/>
          </a:xfrm>
          <a:prstGeom prst="rect">
            <a:avLst/>
          </a:prstGeom>
          <a:solidFill>
            <a:srgbClr val="0F1A2E"/>
          </a:solidFill>
          <a:ln cap="flat" cmpd="sng" w="12700">
            <a:solidFill>
              <a:srgbClr val="162035"/>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10"/>
          <p:cNvSpPr/>
          <p:nvPr/>
        </p:nvSpPr>
        <p:spPr>
          <a:xfrm>
            <a:off x="4791456" y="2834640"/>
            <a:ext cx="2029968" cy="54864"/>
          </a:xfrm>
          <a:prstGeom prst="rect">
            <a:avLst/>
          </a:prstGeom>
          <a:solidFill>
            <a:srgbClr val="34D399"/>
          </a:solidFill>
          <a:ln cap="flat" cmpd="sng" w="12700">
            <a:solidFill>
              <a:srgbClr val="34D3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10"/>
          <p:cNvSpPr/>
          <p:nvPr/>
        </p:nvSpPr>
        <p:spPr>
          <a:xfrm>
            <a:off x="4901184" y="2944368"/>
            <a:ext cx="182880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4D399"/>
              </a:buClr>
              <a:buSzPts val="1200"/>
              <a:buFont typeface="Trebuchet MS"/>
              <a:buNone/>
            </a:pPr>
            <a:r>
              <a:rPr b="1" i="0" lang="en-US" sz="1200" u="none" cap="none" strike="noStrike">
                <a:solidFill>
                  <a:srgbClr val="34D399"/>
                </a:solidFill>
                <a:latin typeface="Trebuchet MS"/>
                <a:ea typeface="Trebuchet MS"/>
                <a:cs typeface="Trebuchet MS"/>
                <a:sym typeface="Trebuchet MS"/>
              </a:rPr>
              <a:t>Compare Results</a:t>
            </a:r>
            <a:endParaRPr b="0" i="0" sz="1200" u="none" cap="none" strike="noStrike">
              <a:solidFill>
                <a:schemeClr val="dk1"/>
              </a:solidFill>
              <a:latin typeface="Calibri"/>
              <a:ea typeface="Calibri"/>
              <a:cs typeface="Calibri"/>
              <a:sym typeface="Calibri"/>
            </a:endParaRPr>
          </a:p>
        </p:txBody>
      </p:sp>
      <p:sp>
        <p:nvSpPr>
          <p:cNvPr id="345" name="Google Shape;345;p10"/>
          <p:cNvSpPr/>
          <p:nvPr/>
        </p:nvSpPr>
        <p:spPr>
          <a:xfrm>
            <a:off x="4901184" y="3474720"/>
            <a:ext cx="1828800" cy="10058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Delta banner, before/after counts, per-part breakdown, resolved order list</a:t>
            </a:r>
            <a:endParaRPr b="0" i="0" sz="1100" u="none" cap="none" strike="noStrike">
              <a:solidFill>
                <a:schemeClr val="dk1"/>
              </a:solidFill>
              <a:latin typeface="Calibri"/>
              <a:ea typeface="Calibri"/>
              <a:cs typeface="Calibri"/>
              <a:sym typeface="Calibri"/>
            </a:endParaRPr>
          </a:p>
        </p:txBody>
      </p:sp>
      <p:sp>
        <p:nvSpPr>
          <p:cNvPr id="346" name="Google Shape;346;p10"/>
          <p:cNvSpPr/>
          <p:nvPr/>
        </p:nvSpPr>
        <p:spPr>
          <a:xfrm>
            <a:off x="7690104" y="1965960"/>
            <a:ext cx="685800" cy="685800"/>
          </a:xfrm>
          <a:prstGeom prst="ellipse">
            <a:avLst/>
          </a:prstGeom>
          <a:solidFill>
            <a:srgbClr val="F59E0B">
              <a:alpha val="80000"/>
            </a:srgbClr>
          </a:solidFill>
          <a:ln cap="flat" cmpd="sng" w="254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10"/>
          <p:cNvSpPr/>
          <p:nvPr/>
        </p:nvSpPr>
        <p:spPr>
          <a:xfrm>
            <a:off x="7690104" y="196596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9E0B"/>
              </a:buClr>
              <a:buSzPts val="1800"/>
              <a:buFont typeface="Trebuchet MS"/>
              <a:buNone/>
            </a:pPr>
            <a:r>
              <a:rPr b="1" i="0" lang="en-US" sz="1800" u="none" cap="none" strike="noStrike">
                <a:solidFill>
                  <a:srgbClr val="F59E0B"/>
                </a:solidFill>
                <a:latin typeface="Trebuchet MS"/>
                <a:ea typeface="Trebuchet MS"/>
                <a:cs typeface="Trebuchet MS"/>
                <a:sym typeface="Trebuchet MS"/>
              </a:rPr>
              <a:t>4</a:t>
            </a:r>
            <a:endParaRPr b="0" i="0" sz="1800" u="none" cap="none" strike="noStrike">
              <a:solidFill>
                <a:schemeClr val="dk1"/>
              </a:solidFill>
              <a:latin typeface="Calibri"/>
              <a:ea typeface="Calibri"/>
              <a:cs typeface="Calibri"/>
              <a:sym typeface="Calibri"/>
            </a:endParaRPr>
          </a:p>
        </p:txBody>
      </p:sp>
      <p:sp>
        <p:nvSpPr>
          <p:cNvPr id="348" name="Google Shape;348;p10"/>
          <p:cNvSpPr/>
          <p:nvPr/>
        </p:nvSpPr>
        <p:spPr>
          <a:xfrm>
            <a:off x="6958584" y="2834640"/>
            <a:ext cx="2029968" cy="1691640"/>
          </a:xfrm>
          <a:prstGeom prst="rect">
            <a:avLst/>
          </a:prstGeom>
          <a:solidFill>
            <a:srgbClr val="0F1A2E"/>
          </a:solidFill>
          <a:ln cap="flat" cmpd="sng" w="12700">
            <a:solidFill>
              <a:srgbClr val="162035"/>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10"/>
          <p:cNvSpPr/>
          <p:nvPr/>
        </p:nvSpPr>
        <p:spPr>
          <a:xfrm>
            <a:off x="6958584" y="2834640"/>
            <a:ext cx="2029968" cy="54864"/>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10"/>
          <p:cNvSpPr/>
          <p:nvPr/>
        </p:nvSpPr>
        <p:spPr>
          <a:xfrm>
            <a:off x="7068312" y="2944368"/>
            <a:ext cx="182880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59E0B"/>
              </a:buClr>
              <a:buSzPts val="1200"/>
              <a:buFont typeface="Trebuchet MS"/>
              <a:buNone/>
            </a:pPr>
            <a:r>
              <a:rPr b="1" i="0" lang="en-US" sz="1200" u="none" cap="none" strike="noStrike">
                <a:solidFill>
                  <a:srgbClr val="F59E0B"/>
                </a:solidFill>
                <a:latin typeface="Trebuchet MS"/>
                <a:ea typeface="Trebuchet MS"/>
                <a:cs typeface="Trebuchet MS"/>
                <a:sym typeface="Trebuchet MS"/>
              </a:rPr>
              <a:t>AI Interpretation</a:t>
            </a:r>
            <a:endParaRPr b="0" i="0" sz="1200" u="none" cap="none" strike="noStrike">
              <a:solidFill>
                <a:schemeClr val="dk1"/>
              </a:solidFill>
              <a:latin typeface="Calibri"/>
              <a:ea typeface="Calibri"/>
              <a:cs typeface="Calibri"/>
              <a:sym typeface="Calibri"/>
            </a:endParaRPr>
          </a:p>
        </p:txBody>
      </p:sp>
      <p:sp>
        <p:nvSpPr>
          <p:cNvPr id="351" name="Google Shape;351;p10"/>
          <p:cNvSpPr/>
          <p:nvPr/>
        </p:nvSpPr>
        <p:spPr>
          <a:xfrm>
            <a:off x="7068312" y="3474720"/>
            <a:ext cx="1828800" cy="10058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Summarise the impact in plain English — efficiency, which WHs benefited</a:t>
            </a:r>
            <a:endParaRPr b="0" i="0" sz="1100" u="none" cap="none" strike="noStrike">
              <a:solidFill>
                <a:schemeClr val="dk1"/>
              </a:solidFill>
              <a:latin typeface="Calibri"/>
              <a:ea typeface="Calibri"/>
              <a:cs typeface="Calibri"/>
              <a:sym typeface="Calibri"/>
            </a:endParaRPr>
          </a:p>
        </p:txBody>
      </p:sp>
      <p:sp>
        <p:nvSpPr>
          <p:cNvPr id="352" name="Google Shape;352;p10"/>
          <p:cNvSpPr/>
          <p:nvPr/>
        </p:nvSpPr>
        <p:spPr>
          <a:xfrm>
            <a:off x="457200" y="4617720"/>
            <a:ext cx="2029968" cy="411480"/>
          </a:xfrm>
          <a:prstGeom prst="rect">
            <a:avLst/>
          </a:prstGeom>
          <a:solidFill>
            <a:srgbClr val="0F1A2E"/>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10"/>
          <p:cNvSpPr/>
          <p:nvPr/>
        </p:nvSpPr>
        <p:spPr>
          <a:xfrm>
            <a:off x="548640" y="4617720"/>
            <a:ext cx="1920240" cy="4114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2C55E"/>
              </a:buClr>
              <a:buSzPts val="900"/>
              <a:buFont typeface="Calibri"/>
              <a:buNone/>
            </a:pPr>
            <a:r>
              <a:rPr b="0" i="0" lang="en-US" sz="900" u="none" cap="none" strike="noStrike">
                <a:solidFill>
                  <a:srgbClr val="22C55E"/>
                </a:solidFill>
                <a:latin typeface="Calibri"/>
                <a:ea typeface="Calibri"/>
                <a:cs typeface="Calibri"/>
                <a:sym typeface="Calibri"/>
              </a:rPr>
              <a:t>▼ Constraints — Number of orders newly resolved</a:t>
            </a:r>
            <a:endParaRPr b="0" i="0" sz="900" u="none" cap="none" strike="noStrike">
              <a:solidFill>
                <a:schemeClr val="dk1"/>
              </a:solidFill>
              <a:latin typeface="Calibri"/>
              <a:ea typeface="Calibri"/>
              <a:cs typeface="Calibri"/>
              <a:sym typeface="Calibri"/>
            </a:endParaRPr>
          </a:p>
        </p:txBody>
      </p:sp>
      <p:sp>
        <p:nvSpPr>
          <p:cNvPr id="354" name="Google Shape;354;p10"/>
          <p:cNvSpPr/>
          <p:nvPr/>
        </p:nvSpPr>
        <p:spPr>
          <a:xfrm>
            <a:off x="2624328" y="4617720"/>
            <a:ext cx="2029968" cy="411480"/>
          </a:xfrm>
          <a:prstGeom prst="rect">
            <a:avLst/>
          </a:prstGeom>
          <a:solidFill>
            <a:srgbClr val="0F1A2E"/>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10"/>
          <p:cNvSpPr/>
          <p:nvPr/>
        </p:nvSpPr>
        <p:spPr>
          <a:xfrm>
            <a:off x="2715768" y="4617720"/>
            <a:ext cx="1920240" cy="4114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B82F6"/>
              </a:buClr>
              <a:buSzPts val="900"/>
              <a:buFont typeface="Calibri"/>
              <a:buNone/>
            </a:pPr>
            <a:r>
              <a:rPr b="0" i="0" lang="en-US" sz="900" u="none" cap="none" strike="noStrike">
                <a:solidFill>
                  <a:srgbClr val="3B82F6"/>
                </a:solidFill>
                <a:latin typeface="Calibri"/>
                <a:ea typeface="Calibri"/>
                <a:cs typeface="Calibri"/>
                <a:sym typeface="Calibri"/>
              </a:rPr>
              <a:t>Before / After — Side-by-side fulfilled vs constrained</a:t>
            </a:r>
            <a:endParaRPr b="0" i="0" sz="900" u="none" cap="none" strike="noStrike">
              <a:solidFill>
                <a:schemeClr val="dk1"/>
              </a:solidFill>
              <a:latin typeface="Calibri"/>
              <a:ea typeface="Calibri"/>
              <a:cs typeface="Calibri"/>
              <a:sym typeface="Calibri"/>
            </a:endParaRPr>
          </a:p>
        </p:txBody>
      </p:sp>
      <p:sp>
        <p:nvSpPr>
          <p:cNvPr id="356" name="Google Shape;356;p10"/>
          <p:cNvSpPr/>
          <p:nvPr/>
        </p:nvSpPr>
        <p:spPr>
          <a:xfrm>
            <a:off x="4791456" y="4617720"/>
            <a:ext cx="2029968" cy="411480"/>
          </a:xfrm>
          <a:prstGeom prst="rect">
            <a:avLst/>
          </a:prstGeom>
          <a:solidFill>
            <a:srgbClr val="0F1A2E"/>
          </a:solidFill>
          <a:ln cap="flat" cmpd="sng" w="12700">
            <a:solidFill>
              <a:srgbClr val="A78B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10"/>
          <p:cNvSpPr/>
          <p:nvPr/>
        </p:nvSpPr>
        <p:spPr>
          <a:xfrm>
            <a:off x="4882896" y="4617720"/>
            <a:ext cx="1920240" cy="4114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A78BFA"/>
              </a:buClr>
              <a:buSzPts val="900"/>
              <a:buFont typeface="Calibri"/>
              <a:buNone/>
            </a:pPr>
            <a:r>
              <a:rPr b="0" i="0" lang="en-US" sz="900" u="none" cap="none" strike="noStrike">
                <a:solidFill>
                  <a:srgbClr val="A78BFA"/>
                </a:solidFill>
                <a:latin typeface="Calibri"/>
                <a:ea typeface="Calibri"/>
                <a:cs typeface="Calibri"/>
                <a:sym typeface="Calibri"/>
              </a:rPr>
              <a:t>By Part — Which parts improved and by how much</a:t>
            </a:r>
            <a:endParaRPr b="0" i="0" sz="900" u="none" cap="none" strike="noStrike">
              <a:solidFill>
                <a:schemeClr val="dk1"/>
              </a:solidFill>
              <a:latin typeface="Calibri"/>
              <a:ea typeface="Calibri"/>
              <a:cs typeface="Calibri"/>
              <a:sym typeface="Calibri"/>
            </a:endParaRPr>
          </a:p>
        </p:txBody>
      </p:sp>
      <p:sp>
        <p:nvSpPr>
          <p:cNvPr id="358" name="Google Shape;358;p10"/>
          <p:cNvSpPr/>
          <p:nvPr/>
        </p:nvSpPr>
        <p:spPr>
          <a:xfrm>
            <a:off x="6958584" y="4617720"/>
            <a:ext cx="2029968" cy="411480"/>
          </a:xfrm>
          <a:prstGeom prst="rect">
            <a:avLst/>
          </a:prstGeom>
          <a:solidFill>
            <a:srgbClr val="0F1A2E"/>
          </a:solidFill>
          <a:ln cap="flat" cmpd="sng" w="12700">
            <a:solidFill>
              <a:srgbClr val="34D3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10"/>
          <p:cNvSpPr/>
          <p:nvPr/>
        </p:nvSpPr>
        <p:spPr>
          <a:xfrm>
            <a:off x="7050024" y="4617720"/>
            <a:ext cx="1920240" cy="4114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4D399"/>
              </a:buClr>
              <a:buSzPts val="900"/>
              <a:buFont typeface="Calibri"/>
              <a:buNone/>
            </a:pPr>
            <a:r>
              <a:rPr b="0" i="0" lang="en-US" sz="900" u="none" cap="none" strike="noStrike">
                <a:solidFill>
                  <a:srgbClr val="34D399"/>
                </a:solidFill>
                <a:latin typeface="Calibri"/>
                <a:ea typeface="Calibri"/>
                <a:cs typeface="Calibri"/>
                <a:sym typeface="Calibri"/>
              </a:rPr>
              <a:t>Order List — Exact order IDs that were unblocked</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B14"/>
        </a:solidFill>
      </p:bgPr>
    </p:bg>
    <p:spTree>
      <p:nvGrpSpPr>
        <p:cNvPr id="364" name="Shape 364"/>
        <p:cNvGrpSpPr/>
        <p:nvPr/>
      </p:nvGrpSpPr>
      <p:grpSpPr>
        <a:xfrm>
          <a:off x="0" y="0"/>
          <a:ext cx="0" cy="0"/>
          <a:chOff x="0" y="0"/>
          <a:chExt cx="0" cy="0"/>
        </a:xfrm>
      </p:grpSpPr>
      <p:sp>
        <p:nvSpPr>
          <p:cNvPr id="365" name="Google Shape;365;p11"/>
          <p:cNvSpPr/>
          <p:nvPr/>
        </p:nvSpPr>
        <p:spPr>
          <a:xfrm>
            <a:off x="0" y="0"/>
            <a:ext cx="9144000" cy="36576"/>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66" name="Google Shape;366;p11"/>
          <p:cNvCxnSpPr/>
          <p:nvPr/>
        </p:nvCxnSpPr>
        <p:spPr>
          <a:xfrm>
            <a:off x="9144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367" name="Google Shape;367;p11"/>
          <p:cNvCxnSpPr/>
          <p:nvPr/>
        </p:nvCxnSpPr>
        <p:spPr>
          <a:xfrm>
            <a:off x="18288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368" name="Google Shape;368;p11"/>
          <p:cNvCxnSpPr/>
          <p:nvPr/>
        </p:nvCxnSpPr>
        <p:spPr>
          <a:xfrm>
            <a:off x="27432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369" name="Google Shape;369;p11"/>
          <p:cNvCxnSpPr/>
          <p:nvPr/>
        </p:nvCxnSpPr>
        <p:spPr>
          <a:xfrm>
            <a:off x="36576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370" name="Google Shape;370;p11"/>
          <p:cNvCxnSpPr/>
          <p:nvPr/>
        </p:nvCxnSpPr>
        <p:spPr>
          <a:xfrm>
            <a:off x="45720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371" name="Google Shape;371;p11"/>
          <p:cNvCxnSpPr/>
          <p:nvPr/>
        </p:nvCxnSpPr>
        <p:spPr>
          <a:xfrm>
            <a:off x="54864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372" name="Google Shape;372;p11"/>
          <p:cNvCxnSpPr/>
          <p:nvPr/>
        </p:nvCxnSpPr>
        <p:spPr>
          <a:xfrm>
            <a:off x="64008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373" name="Google Shape;373;p11"/>
          <p:cNvCxnSpPr/>
          <p:nvPr/>
        </p:nvCxnSpPr>
        <p:spPr>
          <a:xfrm>
            <a:off x="73152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374" name="Google Shape;374;p11"/>
          <p:cNvCxnSpPr/>
          <p:nvPr/>
        </p:nvCxnSpPr>
        <p:spPr>
          <a:xfrm>
            <a:off x="8229600" y="0"/>
            <a:ext cx="0" cy="5143500"/>
          </a:xfrm>
          <a:prstGeom prst="straightConnector1">
            <a:avLst/>
          </a:prstGeom>
          <a:noFill/>
          <a:ln cap="flat" cmpd="sng" w="9525">
            <a:solidFill>
              <a:srgbClr val="162035"/>
            </a:solidFill>
            <a:prstDash val="solid"/>
            <a:round/>
            <a:headEnd len="sm" w="sm" type="none"/>
            <a:tailEnd len="sm" w="sm" type="none"/>
          </a:ln>
        </p:spPr>
      </p:cxnSp>
      <p:sp>
        <p:nvSpPr>
          <p:cNvPr id="375" name="Google Shape;375;p11"/>
          <p:cNvSpPr/>
          <p:nvPr/>
        </p:nvSpPr>
        <p:spPr>
          <a:xfrm>
            <a:off x="457200" y="228600"/>
            <a:ext cx="1645920" cy="256032"/>
          </a:xfrm>
          <a:prstGeom prst="rect">
            <a:avLst/>
          </a:prstGeom>
          <a:solidFill>
            <a:srgbClr val="F59E0B">
              <a:alpha val="20000"/>
            </a:srgbClr>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11"/>
          <p:cNvSpPr/>
          <p:nvPr/>
        </p:nvSpPr>
        <p:spPr>
          <a:xfrm>
            <a:off x="457200" y="228600"/>
            <a:ext cx="16458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9E0B"/>
              </a:buClr>
              <a:buSzPts val="800"/>
              <a:buFont typeface="Calibri"/>
              <a:buNone/>
            </a:pPr>
            <a:r>
              <a:rPr b="1" i="0" lang="en-US" sz="1100" u="none" cap="none" strike="noStrike">
                <a:solidFill>
                  <a:srgbClr val="F59E0B"/>
                </a:solidFill>
                <a:latin typeface="Calibri"/>
                <a:ea typeface="Calibri"/>
                <a:cs typeface="Calibri"/>
                <a:sym typeface="Calibri"/>
              </a:rPr>
              <a:t>CHALLENGES &amp; SOLUTIONS</a:t>
            </a:r>
            <a:endParaRPr b="0" i="0" sz="1100" u="none" cap="none" strike="noStrike">
              <a:solidFill>
                <a:schemeClr val="dk1"/>
              </a:solidFill>
              <a:latin typeface="Calibri"/>
              <a:ea typeface="Calibri"/>
              <a:cs typeface="Calibri"/>
              <a:sym typeface="Calibri"/>
            </a:endParaRPr>
          </a:p>
        </p:txBody>
      </p:sp>
      <p:sp>
        <p:nvSpPr>
          <p:cNvPr id="377" name="Google Shape;377;p11"/>
          <p:cNvSpPr/>
          <p:nvPr/>
        </p:nvSpPr>
        <p:spPr>
          <a:xfrm>
            <a:off x="457200" y="548640"/>
            <a:ext cx="8229600" cy="5943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Key Engineering Challenges</a:t>
            </a:r>
            <a:endParaRPr b="0" i="0" sz="2200" u="none" cap="none" strike="noStrike">
              <a:solidFill>
                <a:schemeClr val="dk1"/>
              </a:solidFill>
              <a:latin typeface="Calibri"/>
              <a:ea typeface="Calibri"/>
              <a:cs typeface="Calibri"/>
              <a:sym typeface="Calibri"/>
            </a:endParaRPr>
          </a:p>
        </p:txBody>
      </p:sp>
      <p:sp>
        <p:nvSpPr>
          <p:cNvPr id="378" name="Google Shape;378;p11"/>
          <p:cNvSpPr/>
          <p:nvPr/>
        </p:nvSpPr>
        <p:spPr>
          <a:xfrm>
            <a:off x="457200" y="1325880"/>
            <a:ext cx="548640" cy="548640"/>
          </a:xfrm>
          <a:prstGeom prst="ellipse">
            <a:avLst/>
          </a:prstGeom>
          <a:solidFill>
            <a:srgbClr val="EF4444">
              <a:alpha val="80000"/>
            </a:srgbClr>
          </a:solidFill>
          <a:ln cap="flat" cmpd="sng" w="254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11"/>
          <p:cNvSpPr/>
          <p:nvPr/>
        </p:nvSpPr>
        <p:spPr>
          <a:xfrm>
            <a:off x="457200" y="1325880"/>
            <a:ext cx="5486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F4444"/>
              </a:buClr>
              <a:buSzPts val="1600"/>
              <a:buFont typeface="Consolas"/>
              <a:buNone/>
            </a:pPr>
            <a:r>
              <a:rPr b="1" i="0" lang="en-US" sz="1600" u="none" cap="none" strike="noStrike">
                <a:solidFill>
                  <a:srgbClr val="EF4444"/>
                </a:solidFill>
                <a:latin typeface="Consolas"/>
                <a:ea typeface="Consolas"/>
                <a:cs typeface="Consolas"/>
                <a:sym typeface="Consolas"/>
              </a:rPr>
              <a:t>01</a:t>
            </a:r>
            <a:endParaRPr b="0" i="0" sz="1600" u="none" cap="none" strike="noStrike">
              <a:solidFill>
                <a:schemeClr val="dk1"/>
              </a:solidFill>
              <a:latin typeface="Calibri"/>
              <a:ea typeface="Calibri"/>
              <a:cs typeface="Calibri"/>
              <a:sym typeface="Calibri"/>
            </a:endParaRPr>
          </a:p>
        </p:txBody>
      </p:sp>
      <p:sp>
        <p:nvSpPr>
          <p:cNvPr id="380" name="Google Shape;380;p11"/>
          <p:cNvSpPr/>
          <p:nvPr/>
        </p:nvSpPr>
        <p:spPr>
          <a:xfrm>
            <a:off x="1143000" y="1188720"/>
            <a:ext cx="7680960" cy="1143000"/>
          </a:xfrm>
          <a:prstGeom prst="rect">
            <a:avLst/>
          </a:prstGeom>
          <a:solidFill>
            <a:srgbClr val="0F1A2E"/>
          </a:solidFill>
          <a:ln cap="flat" cmpd="sng" w="12700">
            <a:solidFill>
              <a:srgbClr val="16203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11"/>
          <p:cNvSpPr/>
          <p:nvPr/>
        </p:nvSpPr>
        <p:spPr>
          <a:xfrm>
            <a:off x="1143000" y="1188720"/>
            <a:ext cx="45720" cy="1143000"/>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11"/>
          <p:cNvSpPr/>
          <p:nvPr/>
        </p:nvSpPr>
        <p:spPr>
          <a:xfrm>
            <a:off x="1298449" y="1234455"/>
            <a:ext cx="3575100" cy="45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400"/>
              <a:buFont typeface="Trebuchet MS"/>
              <a:buNone/>
            </a:pPr>
            <a:r>
              <a:rPr b="1" i="0" lang="en-US" sz="1400" u="none" cap="none" strike="noStrike">
                <a:solidFill>
                  <a:srgbClr val="EF4444"/>
                </a:solidFill>
                <a:latin typeface="Trebuchet MS"/>
                <a:ea typeface="Trebuchet MS"/>
                <a:cs typeface="Trebuchet MS"/>
                <a:sym typeface="Trebuchet MS"/>
              </a:rPr>
              <a:t>Bridging the Gap between Natural Language and Schema</a:t>
            </a:r>
            <a:endParaRPr b="0" i="0" sz="1400" u="none" cap="none" strike="noStrike">
              <a:solidFill>
                <a:schemeClr val="dk1"/>
              </a:solidFill>
              <a:latin typeface="Calibri"/>
              <a:ea typeface="Calibri"/>
              <a:cs typeface="Calibri"/>
              <a:sym typeface="Calibri"/>
            </a:endParaRPr>
          </a:p>
        </p:txBody>
      </p:sp>
      <p:sp>
        <p:nvSpPr>
          <p:cNvPr id="383" name="Google Shape;383;p11"/>
          <p:cNvSpPr/>
          <p:nvPr/>
        </p:nvSpPr>
        <p:spPr>
          <a:xfrm>
            <a:off x="1298450" y="1691626"/>
            <a:ext cx="3657600" cy="54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Problem: Users don't speak in SQL or JSON keys like part_number or parent_dc. They also do not give the entire context. They use natural language and ask vague questions. </a:t>
            </a:r>
            <a:endParaRPr b="0" i="0" sz="1000" u="none" cap="none" strike="noStrike">
              <a:solidFill>
                <a:schemeClr val="dk1"/>
              </a:solidFill>
              <a:latin typeface="Calibri"/>
              <a:ea typeface="Calibri"/>
              <a:cs typeface="Calibri"/>
              <a:sym typeface="Calibri"/>
            </a:endParaRPr>
          </a:p>
        </p:txBody>
      </p:sp>
      <p:sp>
        <p:nvSpPr>
          <p:cNvPr id="384" name="Google Shape;384;p11"/>
          <p:cNvSpPr/>
          <p:nvPr/>
        </p:nvSpPr>
        <p:spPr>
          <a:xfrm>
            <a:off x="5074920" y="1261872"/>
            <a:ext cx="3611880" cy="1005840"/>
          </a:xfrm>
          <a:prstGeom prst="rect">
            <a:avLst/>
          </a:prstGeom>
          <a:solidFill>
            <a:srgbClr val="22C55E">
              <a:alpha val="12156"/>
            </a:srgbClr>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11"/>
          <p:cNvSpPr/>
          <p:nvPr/>
        </p:nvSpPr>
        <p:spPr>
          <a:xfrm>
            <a:off x="5166360" y="1261872"/>
            <a:ext cx="3429000" cy="10058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C55E"/>
              </a:buClr>
              <a:buSzPts val="1000"/>
              <a:buFont typeface="Calibri"/>
              <a:buNone/>
            </a:pPr>
            <a:r>
              <a:rPr b="0" i="0" lang="en-US" sz="1000" u="none" cap="none" strike="noStrike">
                <a:solidFill>
                  <a:srgbClr val="22C55E"/>
                </a:solidFill>
                <a:latin typeface="Calibri"/>
                <a:ea typeface="Calibri"/>
                <a:cs typeface="Calibri"/>
                <a:sym typeface="Calibri"/>
              </a:rPr>
              <a:t>✓  Implentened</a:t>
            </a:r>
            <a:r>
              <a:rPr b="1" i="0" lang="en-US" sz="1000" u="none" cap="none" strike="noStrike">
                <a:solidFill>
                  <a:srgbClr val="22C55E"/>
                </a:solidFill>
                <a:latin typeface="Calibri"/>
                <a:ea typeface="Calibri"/>
                <a:cs typeface="Calibri"/>
                <a:sym typeface="Calibri"/>
              </a:rPr>
              <a:t> Intent Classification</a:t>
            </a:r>
            <a:r>
              <a:rPr b="0" i="0" lang="en-US" sz="1000" u="none" cap="none" strike="noStrike">
                <a:solidFill>
                  <a:srgbClr val="22C55E"/>
                </a:solidFill>
                <a:latin typeface="Calibri"/>
                <a:ea typeface="Calibri"/>
                <a:cs typeface="Calibri"/>
                <a:sym typeface="Calibri"/>
              </a:rPr>
              <a:t> (e.g. “Contrained_count”,”Summary ”, ”General" intent in your data ) to categorise the query before processing it.This allowed the system to narrow down which “warehouse” or “part” logic to apply based on the context of the conversation.</a:t>
            </a:r>
            <a:endParaRPr b="0" i="0" sz="1000" u="none" cap="none" strike="noStrike">
              <a:solidFill>
                <a:schemeClr val="dk1"/>
              </a:solidFill>
              <a:latin typeface="Calibri"/>
              <a:ea typeface="Calibri"/>
              <a:cs typeface="Calibri"/>
              <a:sym typeface="Calibri"/>
            </a:endParaRPr>
          </a:p>
        </p:txBody>
      </p:sp>
      <p:sp>
        <p:nvSpPr>
          <p:cNvPr id="386" name="Google Shape;386;p11"/>
          <p:cNvSpPr/>
          <p:nvPr/>
        </p:nvSpPr>
        <p:spPr>
          <a:xfrm>
            <a:off x="457200" y="2606040"/>
            <a:ext cx="548640" cy="548640"/>
          </a:xfrm>
          <a:prstGeom prst="ellipse">
            <a:avLst/>
          </a:prstGeom>
          <a:solidFill>
            <a:srgbClr val="F59E0B">
              <a:alpha val="80000"/>
            </a:srgbClr>
          </a:solidFill>
          <a:ln cap="flat" cmpd="sng" w="254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11"/>
          <p:cNvSpPr/>
          <p:nvPr/>
        </p:nvSpPr>
        <p:spPr>
          <a:xfrm>
            <a:off x="457200" y="2606040"/>
            <a:ext cx="5486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9E0B"/>
              </a:buClr>
              <a:buSzPts val="1600"/>
              <a:buFont typeface="Consolas"/>
              <a:buNone/>
            </a:pPr>
            <a:r>
              <a:rPr b="1" i="0" lang="en-US" sz="1600" u="none" cap="none" strike="noStrike">
                <a:solidFill>
                  <a:srgbClr val="F59E0B"/>
                </a:solidFill>
                <a:latin typeface="Consolas"/>
                <a:ea typeface="Consolas"/>
                <a:cs typeface="Consolas"/>
                <a:sym typeface="Consolas"/>
              </a:rPr>
              <a:t>02</a:t>
            </a:r>
            <a:endParaRPr b="0" i="0" sz="1600" u="none" cap="none" strike="noStrike">
              <a:solidFill>
                <a:schemeClr val="dk1"/>
              </a:solidFill>
              <a:latin typeface="Calibri"/>
              <a:ea typeface="Calibri"/>
              <a:cs typeface="Calibri"/>
              <a:sym typeface="Calibri"/>
            </a:endParaRPr>
          </a:p>
        </p:txBody>
      </p:sp>
      <p:sp>
        <p:nvSpPr>
          <p:cNvPr id="388" name="Google Shape;388;p11"/>
          <p:cNvSpPr/>
          <p:nvPr/>
        </p:nvSpPr>
        <p:spPr>
          <a:xfrm>
            <a:off x="1143000" y="2468880"/>
            <a:ext cx="7680960" cy="1143000"/>
          </a:xfrm>
          <a:prstGeom prst="rect">
            <a:avLst/>
          </a:prstGeom>
          <a:solidFill>
            <a:srgbClr val="0F1A2E"/>
          </a:solidFill>
          <a:ln cap="flat" cmpd="sng" w="12700">
            <a:solidFill>
              <a:srgbClr val="16203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11"/>
          <p:cNvSpPr/>
          <p:nvPr/>
        </p:nvSpPr>
        <p:spPr>
          <a:xfrm>
            <a:off x="1143000" y="2468880"/>
            <a:ext cx="45720" cy="11430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11"/>
          <p:cNvSpPr/>
          <p:nvPr/>
        </p:nvSpPr>
        <p:spPr>
          <a:xfrm>
            <a:off x="1298448" y="2514600"/>
            <a:ext cx="7406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400"/>
              <a:buFont typeface="Trebuchet MS"/>
              <a:buNone/>
            </a:pPr>
            <a:r>
              <a:rPr b="1" i="0" lang="en-US" sz="1400" u="none" cap="none" strike="noStrike">
                <a:solidFill>
                  <a:srgbClr val="F59E0B"/>
                </a:solidFill>
                <a:latin typeface="Trebuchet MS"/>
                <a:ea typeface="Trebuchet MS"/>
                <a:cs typeface="Trebuchet MS"/>
                <a:sym typeface="Trebuchet MS"/>
              </a:rPr>
              <a:t>Dual Parent DC Structure</a:t>
            </a:r>
            <a:endParaRPr b="0" i="0" sz="1400" u="none" cap="none" strike="noStrike">
              <a:solidFill>
                <a:schemeClr val="dk1"/>
              </a:solidFill>
              <a:latin typeface="Calibri"/>
              <a:ea typeface="Calibri"/>
              <a:cs typeface="Calibri"/>
              <a:sym typeface="Calibri"/>
            </a:endParaRPr>
          </a:p>
        </p:txBody>
      </p:sp>
      <p:sp>
        <p:nvSpPr>
          <p:cNvPr id="391" name="Google Shape;391;p11"/>
          <p:cNvSpPr/>
          <p:nvPr/>
        </p:nvSpPr>
        <p:spPr>
          <a:xfrm>
            <a:off x="1298448" y="2807208"/>
            <a:ext cx="3657600" cy="7132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Problem: Categorising if the order is constrained or not is fine, but to actually solve the problem we should be able to trace the constraints to the source.</a:t>
            </a:r>
            <a:endParaRPr b="0" i="0" sz="1000" u="none" cap="none" strike="noStrike">
              <a:solidFill>
                <a:schemeClr val="dk1"/>
              </a:solidFill>
              <a:latin typeface="Calibri"/>
              <a:ea typeface="Calibri"/>
              <a:cs typeface="Calibri"/>
              <a:sym typeface="Calibri"/>
            </a:endParaRPr>
          </a:p>
        </p:txBody>
      </p:sp>
      <p:sp>
        <p:nvSpPr>
          <p:cNvPr id="392" name="Google Shape;392;p11"/>
          <p:cNvSpPr/>
          <p:nvPr/>
        </p:nvSpPr>
        <p:spPr>
          <a:xfrm>
            <a:off x="5074920" y="2542032"/>
            <a:ext cx="3611880" cy="1005840"/>
          </a:xfrm>
          <a:prstGeom prst="rect">
            <a:avLst/>
          </a:prstGeom>
          <a:solidFill>
            <a:srgbClr val="22C55E">
              <a:alpha val="12156"/>
            </a:srgbClr>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11"/>
          <p:cNvSpPr/>
          <p:nvPr/>
        </p:nvSpPr>
        <p:spPr>
          <a:xfrm>
            <a:off x="5166360" y="2542032"/>
            <a:ext cx="3429000" cy="10058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C55E"/>
              </a:buClr>
              <a:buSzPts val="1000"/>
              <a:buFont typeface="Calibri"/>
              <a:buNone/>
            </a:pPr>
            <a:r>
              <a:rPr b="0" i="0" lang="en-US" sz="1000" u="none" cap="none" strike="noStrike">
                <a:solidFill>
                  <a:srgbClr val="22C55E"/>
                </a:solidFill>
                <a:latin typeface="Calibri"/>
                <a:ea typeface="Calibri"/>
                <a:cs typeface="Calibri"/>
                <a:sym typeface="Calibri"/>
              </a:rPr>
              <a:t>✓ Implemented a Queue (FIFO) algorithm which builds a</a:t>
            </a:r>
            <a:endParaRPr b="0" i="0" sz="1000" u="none" cap="none" strike="noStrike">
              <a:solidFill>
                <a:srgbClr val="22C55E"/>
              </a:solidFill>
              <a:latin typeface="Calibri"/>
              <a:ea typeface="Calibri"/>
              <a:cs typeface="Calibri"/>
              <a:sym typeface="Calibri"/>
            </a:endParaRPr>
          </a:p>
          <a:p>
            <a:pPr indent="0" lvl="0" marL="0" marR="0" rtl="0" algn="l">
              <a:lnSpc>
                <a:spcPct val="100000"/>
              </a:lnSpc>
              <a:spcBef>
                <a:spcPts val="0"/>
              </a:spcBef>
              <a:spcAft>
                <a:spcPts val="0"/>
              </a:spcAft>
              <a:buClr>
                <a:srgbClr val="22C55E"/>
              </a:buClr>
              <a:buSzPts val="1000"/>
              <a:buFont typeface="Calibri"/>
              <a:buNone/>
            </a:pPr>
            <a:r>
              <a:rPr b="0" i="0" lang="en-US" sz="1000" u="none" cap="none" strike="noStrike">
                <a:solidFill>
                  <a:srgbClr val="22C55E"/>
                </a:solidFill>
                <a:latin typeface="Calibri"/>
                <a:ea typeface="Calibri"/>
                <a:cs typeface="Calibri"/>
                <a:sym typeface="Calibri"/>
              </a:rPr>
              <a:t>chain of parts along with it’s compatible parts and checks</a:t>
            </a:r>
            <a:endParaRPr b="0" i="0" sz="1000" u="none" cap="none" strike="noStrike">
              <a:solidFill>
                <a:srgbClr val="22C55E"/>
              </a:solidFill>
              <a:latin typeface="Calibri"/>
              <a:ea typeface="Calibri"/>
              <a:cs typeface="Calibri"/>
              <a:sym typeface="Calibri"/>
            </a:endParaRPr>
          </a:p>
          <a:p>
            <a:pPr indent="0" lvl="0" marL="0" marR="0" rtl="0" algn="l">
              <a:lnSpc>
                <a:spcPct val="100000"/>
              </a:lnSpc>
              <a:spcBef>
                <a:spcPts val="0"/>
              </a:spcBef>
              <a:spcAft>
                <a:spcPts val="0"/>
              </a:spcAft>
              <a:buClr>
                <a:srgbClr val="22C55E"/>
              </a:buClr>
              <a:buSzPts val="1000"/>
              <a:buFont typeface="Calibri"/>
              <a:buNone/>
            </a:pPr>
            <a:r>
              <a:rPr b="0" i="0" lang="en-US" sz="1000" u="none" cap="none" strike="noStrike">
                <a:solidFill>
                  <a:srgbClr val="22C55E"/>
                </a:solidFill>
                <a:latin typeface="Calibri"/>
                <a:ea typeface="Calibri"/>
                <a:cs typeface="Calibri"/>
                <a:sym typeface="Calibri"/>
              </a:rPr>
              <a:t>the fulfiller DC and goes to parent DC. Considers in-stock</a:t>
            </a:r>
            <a:endParaRPr b="0" i="0" sz="1000" u="none" cap="none" strike="noStrike">
              <a:solidFill>
                <a:srgbClr val="22C55E"/>
              </a:solidFill>
              <a:latin typeface="Calibri"/>
              <a:ea typeface="Calibri"/>
              <a:cs typeface="Calibri"/>
              <a:sym typeface="Calibri"/>
            </a:endParaRPr>
          </a:p>
          <a:p>
            <a:pPr indent="0" lvl="0" marL="0" marR="0" rtl="0" algn="l">
              <a:lnSpc>
                <a:spcPct val="100000"/>
              </a:lnSpc>
              <a:spcBef>
                <a:spcPts val="0"/>
              </a:spcBef>
              <a:spcAft>
                <a:spcPts val="0"/>
              </a:spcAft>
              <a:buClr>
                <a:srgbClr val="22C55E"/>
              </a:buClr>
              <a:buSzPts val="1000"/>
              <a:buFont typeface="Calibri"/>
              <a:buNone/>
            </a:pPr>
            <a:r>
              <a:rPr b="0" i="0" lang="en-US" sz="1000" u="none" cap="none" strike="noStrike">
                <a:solidFill>
                  <a:srgbClr val="22C55E"/>
                </a:solidFill>
                <a:latin typeface="Calibri"/>
                <a:ea typeface="Calibri"/>
                <a:cs typeface="Calibri"/>
                <a:sym typeface="Calibri"/>
              </a:rPr>
              <a:t>and in-transit as the same.</a:t>
            </a:r>
            <a:endParaRPr b="0" i="0" sz="1000" u="none" cap="none" strike="noStrike">
              <a:solidFill>
                <a:srgbClr val="22C55E"/>
              </a:solidFill>
              <a:latin typeface="Calibri"/>
              <a:ea typeface="Calibri"/>
              <a:cs typeface="Calibri"/>
              <a:sym typeface="Calibri"/>
            </a:endParaRPr>
          </a:p>
        </p:txBody>
      </p:sp>
      <p:sp>
        <p:nvSpPr>
          <p:cNvPr id="394" name="Google Shape;394;p11"/>
          <p:cNvSpPr/>
          <p:nvPr/>
        </p:nvSpPr>
        <p:spPr>
          <a:xfrm>
            <a:off x="457200" y="3886200"/>
            <a:ext cx="548640" cy="548640"/>
          </a:xfrm>
          <a:prstGeom prst="ellipse">
            <a:avLst/>
          </a:prstGeom>
          <a:solidFill>
            <a:srgbClr val="8B5CF6">
              <a:alpha val="80000"/>
            </a:srgbClr>
          </a:solidFill>
          <a:ln cap="flat" cmpd="sng" w="2540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11"/>
          <p:cNvSpPr/>
          <p:nvPr/>
        </p:nvSpPr>
        <p:spPr>
          <a:xfrm>
            <a:off x="457200" y="3886200"/>
            <a:ext cx="5486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B5CF6"/>
              </a:buClr>
              <a:buSzPts val="1600"/>
              <a:buFont typeface="Consolas"/>
              <a:buNone/>
            </a:pPr>
            <a:r>
              <a:rPr b="1" i="0" lang="en-US" sz="1600" u="none" cap="none" strike="noStrike">
                <a:solidFill>
                  <a:srgbClr val="8B5CF6"/>
                </a:solidFill>
                <a:latin typeface="Consolas"/>
                <a:ea typeface="Consolas"/>
                <a:cs typeface="Consolas"/>
                <a:sym typeface="Consolas"/>
              </a:rPr>
              <a:t>03</a:t>
            </a:r>
            <a:endParaRPr b="0" i="0" sz="1600" u="none" cap="none" strike="noStrike">
              <a:solidFill>
                <a:schemeClr val="dk1"/>
              </a:solidFill>
              <a:latin typeface="Calibri"/>
              <a:ea typeface="Calibri"/>
              <a:cs typeface="Calibri"/>
              <a:sym typeface="Calibri"/>
            </a:endParaRPr>
          </a:p>
        </p:txBody>
      </p:sp>
      <p:sp>
        <p:nvSpPr>
          <p:cNvPr id="396" name="Google Shape;396;p11"/>
          <p:cNvSpPr/>
          <p:nvPr/>
        </p:nvSpPr>
        <p:spPr>
          <a:xfrm>
            <a:off x="1143000" y="3749040"/>
            <a:ext cx="7680960" cy="1143000"/>
          </a:xfrm>
          <a:prstGeom prst="rect">
            <a:avLst/>
          </a:prstGeom>
          <a:solidFill>
            <a:srgbClr val="0F1A2E"/>
          </a:solidFill>
          <a:ln cap="flat" cmpd="sng" w="12700">
            <a:solidFill>
              <a:srgbClr val="16203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11"/>
          <p:cNvSpPr/>
          <p:nvPr/>
        </p:nvSpPr>
        <p:spPr>
          <a:xfrm>
            <a:off x="1143000" y="3749040"/>
            <a:ext cx="45720" cy="1143000"/>
          </a:xfrm>
          <a:prstGeom prst="rect">
            <a:avLst/>
          </a:prstGeom>
          <a:solidFill>
            <a:srgbClr val="8B5CF6"/>
          </a:solidFill>
          <a:ln cap="flat" cmpd="sng" w="1270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11"/>
          <p:cNvSpPr/>
          <p:nvPr/>
        </p:nvSpPr>
        <p:spPr>
          <a:xfrm>
            <a:off x="1298448" y="3794760"/>
            <a:ext cx="7406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5CF6"/>
              </a:buClr>
              <a:buSzPts val="1400"/>
              <a:buFont typeface="Trebuchet MS"/>
              <a:buNone/>
            </a:pPr>
            <a:r>
              <a:rPr b="1" i="0" lang="en-US" sz="1400" u="none" cap="none" strike="noStrike">
                <a:solidFill>
                  <a:srgbClr val="8B5CF6"/>
                </a:solidFill>
                <a:latin typeface="Trebuchet MS"/>
                <a:ea typeface="Trebuchet MS"/>
                <a:cs typeface="Trebuchet MS"/>
                <a:sym typeface="Trebuchet MS"/>
              </a:rPr>
              <a:t>Flexible NLU Without Fine-Tuning</a:t>
            </a:r>
            <a:endParaRPr b="0" i="0" sz="1400" u="none" cap="none" strike="noStrike">
              <a:solidFill>
                <a:schemeClr val="dk1"/>
              </a:solidFill>
              <a:latin typeface="Calibri"/>
              <a:ea typeface="Calibri"/>
              <a:cs typeface="Calibri"/>
              <a:sym typeface="Calibri"/>
            </a:endParaRPr>
          </a:p>
        </p:txBody>
      </p:sp>
      <p:sp>
        <p:nvSpPr>
          <p:cNvPr id="399" name="Google Shape;399;p11"/>
          <p:cNvSpPr/>
          <p:nvPr/>
        </p:nvSpPr>
        <p:spPr>
          <a:xfrm>
            <a:off x="1298448" y="4087368"/>
            <a:ext cx="3657600" cy="7132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Problem: Users ask wildly different question formats : 'how many broken VINs for part A?', 'I have 5 pieces at warehouse 1', 'summary of WH-3'. A rigid parser would fail on novel phrasing.</a:t>
            </a:r>
            <a:endParaRPr b="0" i="0" sz="1000" u="none" cap="none" strike="noStrike">
              <a:solidFill>
                <a:schemeClr val="dk1"/>
              </a:solidFill>
              <a:latin typeface="Calibri"/>
              <a:ea typeface="Calibri"/>
              <a:cs typeface="Calibri"/>
              <a:sym typeface="Calibri"/>
            </a:endParaRPr>
          </a:p>
        </p:txBody>
      </p:sp>
      <p:sp>
        <p:nvSpPr>
          <p:cNvPr id="400" name="Google Shape;400;p11"/>
          <p:cNvSpPr/>
          <p:nvPr/>
        </p:nvSpPr>
        <p:spPr>
          <a:xfrm>
            <a:off x="5074920" y="3822192"/>
            <a:ext cx="3611880" cy="1005840"/>
          </a:xfrm>
          <a:prstGeom prst="rect">
            <a:avLst/>
          </a:prstGeom>
          <a:solidFill>
            <a:srgbClr val="22C55E">
              <a:alpha val="12156"/>
            </a:srgbClr>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11"/>
          <p:cNvSpPr/>
          <p:nvPr/>
        </p:nvSpPr>
        <p:spPr>
          <a:xfrm>
            <a:off x="5166360" y="3822192"/>
            <a:ext cx="3429000" cy="10058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C55E"/>
              </a:buClr>
              <a:buSzPts val="1000"/>
              <a:buFont typeface="Calibri"/>
              <a:buNone/>
            </a:pPr>
            <a:r>
              <a:rPr b="0" i="0" lang="en-US" sz="1000" u="none" cap="none" strike="noStrike">
                <a:solidFill>
                  <a:srgbClr val="22C55E"/>
                </a:solidFill>
                <a:latin typeface="Calibri"/>
                <a:ea typeface="Calibri"/>
                <a:cs typeface="Calibri"/>
                <a:sym typeface="Calibri"/>
              </a:rPr>
              <a:t>✓  Two-stage LLM pipeline: NLU call extracts structured</a:t>
            </a:r>
            <a:endParaRPr b="0" i="0" sz="1000" u="none" cap="none" strike="noStrike">
              <a:solidFill>
                <a:srgbClr val="22C55E"/>
              </a:solidFill>
              <a:latin typeface="Calibri"/>
              <a:ea typeface="Calibri"/>
              <a:cs typeface="Calibri"/>
              <a:sym typeface="Calibri"/>
            </a:endParaRPr>
          </a:p>
          <a:p>
            <a:pPr indent="0" lvl="0" marL="0" marR="0" rtl="0" algn="l">
              <a:lnSpc>
                <a:spcPct val="100000"/>
              </a:lnSpc>
              <a:spcBef>
                <a:spcPts val="0"/>
              </a:spcBef>
              <a:spcAft>
                <a:spcPts val="0"/>
              </a:spcAft>
              <a:buClr>
                <a:srgbClr val="22C55E"/>
              </a:buClr>
              <a:buSzPts val="1000"/>
              <a:buFont typeface="Calibri"/>
              <a:buNone/>
            </a:pPr>
            <a:r>
              <a:rPr b="0" i="0" lang="en-US" sz="1000" u="none" cap="none" strike="noStrike">
                <a:solidFill>
                  <a:srgbClr val="22C55E"/>
                </a:solidFill>
                <a:latin typeface="Calibri"/>
                <a:ea typeface="Calibri"/>
                <a:cs typeface="Calibri"/>
                <a:sym typeface="Calibri"/>
              </a:rPr>
              <a:t>JSON (intent + params), Response call interprets</a:t>
            </a:r>
            <a:endParaRPr b="0" i="0" sz="1000" u="none" cap="none" strike="noStrike">
              <a:solidFill>
                <a:srgbClr val="22C55E"/>
              </a:solidFill>
              <a:latin typeface="Calibri"/>
              <a:ea typeface="Calibri"/>
              <a:cs typeface="Calibri"/>
              <a:sym typeface="Calibri"/>
            </a:endParaRPr>
          </a:p>
          <a:p>
            <a:pPr indent="0" lvl="0" marL="0" marR="0" rtl="0" algn="l">
              <a:lnSpc>
                <a:spcPct val="100000"/>
              </a:lnSpc>
              <a:spcBef>
                <a:spcPts val="0"/>
              </a:spcBef>
              <a:spcAft>
                <a:spcPts val="0"/>
              </a:spcAft>
              <a:buClr>
                <a:srgbClr val="22C55E"/>
              </a:buClr>
              <a:buSzPts val="1000"/>
              <a:buFont typeface="Calibri"/>
              <a:buNone/>
            </a:pPr>
            <a:r>
              <a:rPr b="0" i="0" lang="en-US" sz="1000" u="none" cap="none" strike="noStrike">
                <a:solidFill>
                  <a:srgbClr val="22C55E"/>
                </a:solidFill>
                <a:latin typeface="Calibri"/>
                <a:ea typeface="Calibri"/>
                <a:cs typeface="Calibri"/>
                <a:sym typeface="Calibri"/>
              </a:rPr>
              <a:t>algorithm results. Claude handles all phrasing variations.</a:t>
            </a:r>
            <a:endParaRPr b="0" i="0" sz="1000" u="none" cap="none" strike="noStrike">
              <a:solidFill>
                <a:srgbClr val="22C55E"/>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B14"/>
        </a:solidFill>
      </p:bgPr>
    </p:bg>
    <p:spTree>
      <p:nvGrpSpPr>
        <p:cNvPr id="406" name="Shape 406"/>
        <p:cNvGrpSpPr/>
        <p:nvPr/>
      </p:nvGrpSpPr>
      <p:grpSpPr>
        <a:xfrm>
          <a:off x="0" y="0"/>
          <a:ext cx="0" cy="0"/>
          <a:chOff x="0" y="0"/>
          <a:chExt cx="0" cy="0"/>
        </a:xfrm>
      </p:grpSpPr>
      <p:sp>
        <p:nvSpPr>
          <p:cNvPr id="407" name="Google Shape;407;p12"/>
          <p:cNvSpPr/>
          <p:nvPr/>
        </p:nvSpPr>
        <p:spPr>
          <a:xfrm>
            <a:off x="0" y="0"/>
            <a:ext cx="9144000" cy="36576"/>
          </a:xfrm>
          <a:prstGeom prst="rect">
            <a:avLst/>
          </a:prstGeom>
          <a:solidFill>
            <a:srgbClr val="A78BFA"/>
          </a:solidFill>
          <a:ln cap="flat" cmpd="sng" w="12700">
            <a:solidFill>
              <a:srgbClr val="A78B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08" name="Google Shape;408;p12"/>
          <p:cNvCxnSpPr/>
          <p:nvPr/>
        </p:nvCxnSpPr>
        <p:spPr>
          <a:xfrm>
            <a:off x="9144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409" name="Google Shape;409;p12"/>
          <p:cNvCxnSpPr/>
          <p:nvPr/>
        </p:nvCxnSpPr>
        <p:spPr>
          <a:xfrm>
            <a:off x="18288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410" name="Google Shape;410;p12"/>
          <p:cNvCxnSpPr/>
          <p:nvPr/>
        </p:nvCxnSpPr>
        <p:spPr>
          <a:xfrm>
            <a:off x="27432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411" name="Google Shape;411;p12"/>
          <p:cNvCxnSpPr/>
          <p:nvPr/>
        </p:nvCxnSpPr>
        <p:spPr>
          <a:xfrm>
            <a:off x="36576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412" name="Google Shape;412;p12"/>
          <p:cNvCxnSpPr/>
          <p:nvPr/>
        </p:nvCxnSpPr>
        <p:spPr>
          <a:xfrm>
            <a:off x="45720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413" name="Google Shape;413;p12"/>
          <p:cNvCxnSpPr/>
          <p:nvPr/>
        </p:nvCxnSpPr>
        <p:spPr>
          <a:xfrm>
            <a:off x="54864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414" name="Google Shape;414;p12"/>
          <p:cNvCxnSpPr/>
          <p:nvPr/>
        </p:nvCxnSpPr>
        <p:spPr>
          <a:xfrm>
            <a:off x="64008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415" name="Google Shape;415;p12"/>
          <p:cNvCxnSpPr/>
          <p:nvPr/>
        </p:nvCxnSpPr>
        <p:spPr>
          <a:xfrm>
            <a:off x="7315200" y="0"/>
            <a:ext cx="0" cy="5143500"/>
          </a:xfrm>
          <a:prstGeom prst="straightConnector1">
            <a:avLst/>
          </a:prstGeom>
          <a:noFill/>
          <a:ln cap="flat" cmpd="sng" w="9525">
            <a:solidFill>
              <a:srgbClr val="162035"/>
            </a:solidFill>
            <a:prstDash val="solid"/>
            <a:round/>
            <a:headEnd len="sm" w="sm" type="none"/>
            <a:tailEnd len="sm" w="sm" type="none"/>
          </a:ln>
        </p:spPr>
      </p:cxnSp>
      <p:cxnSp>
        <p:nvCxnSpPr>
          <p:cNvPr id="416" name="Google Shape;416;p12"/>
          <p:cNvCxnSpPr/>
          <p:nvPr/>
        </p:nvCxnSpPr>
        <p:spPr>
          <a:xfrm>
            <a:off x="8229600" y="0"/>
            <a:ext cx="0" cy="5143500"/>
          </a:xfrm>
          <a:prstGeom prst="straightConnector1">
            <a:avLst/>
          </a:prstGeom>
          <a:noFill/>
          <a:ln cap="flat" cmpd="sng" w="9525">
            <a:solidFill>
              <a:srgbClr val="162035"/>
            </a:solidFill>
            <a:prstDash val="solid"/>
            <a:round/>
            <a:headEnd len="sm" w="sm" type="none"/>
            <a:tailEnd len="sm" w="sm" type="none"/>
          </a:ln>
        </p:spPr>
      </p:cxnSp>
      <p:sp>
        <p:nvSpPr>
          <p:cNvPr id="417" name="Google Shape;417;p12"/>
          <p:cNvSpPr/>
          <p:nvPr/>
        </p:nvSpPr>
        <p:spPr>
          <a:xfrm>
            <a:off x="457200" y="228600"/>
            <a:ext cx="1645920" cy="256032"/>
          </a:xfrm>
          <a:prstGeom prst="rect">
            <a:avLst/>
          </a:prstGeom>
          <a:solidFill>
            <a:srgbClr val="A78BFA">
              <a:alpha val="20000"/>
            </a:srgbClr>
          </a:solidFill>
          <a:ln cap="flat" cmpd="sng" w="12700">
            <a:solidFill>
              <a:srgbClr val="A78B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12"/>
          <p:cNvSpPr/>
          <p:nvPr/>
        </p:nvSpPr>
        <p:spPr>
          <a:xfrm>
            <a:off x="457200" y="228600"/>
            <a:ext cx="16459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78BFA"/>
              </a:buClr>
              <a:buSzPts val="800"/>
              <a:buFont typeface="Calibri"/>
              <a:buNone/>
            </a:pPr>
            <a:r>
              <a:rPr b="1" i="0" lang="en-US" sz="1200" u="none" cap="none" strike="noStrike">
                <a:solidFill>
                  <a:srgbClr val="A78BFA"/>
                </a:solidFill>
                <a:latin typeface="Calibri"/>
                <a:ea typeface="Calibri"/>
                <a:cs typeface="Calibri"/>
                <a:sym typeface="Calibri"/>
              </a:rPr>
              <a:t>REFLECTION</a:t>
            </a:r>
            <a:endParaRPr b="0" i="0" sz="1200" u="none" cap="none" strike="noStrike">
              <a:solidFill>
                <a:schemeClr val="dk1"/>
              </a:solidFill>
              <a:latin typeface="Calibri"/>
              <a:ea typeface="Calibri"/>
              <a:cs typeface="Calibri"/>
              <a:sym typeface="Calibri"/>
            </a:endParaRPr>
          </a:p>
        </p:txBody>
      </p:sp>
      <p:sp>
        <p:nvSpPr>
          <p:cNvPr id="419" name="Google Shape;419;p12"/>
          <p:cNvSpPr/>
          <p:nvPr/>
        </p:nvSpPr>
        <p:spPr>
          <a:xfrm>
            <a:off x="457200" y="502920"/>
            <a:ext cx="8229600" cy="5943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Learnings &amp; Real-World Applications</a:t>
            </a:r>
            <a:endParaRPr b="0" i="0" sz="2200" u="none" cap="none" strike="noStrike">
              <a:solidFill>
                <a:schemeClr val="dk1"/>
              </a:solidFill>
              <a:latin typeface="Calibri"/>
              <a:ea typeface="Calibri"/>
              <a:cs typeface="Calibri"/>
              <a:sym typeface="Calibri"/>
            </a:endParaRPr>
          </a:p>
        </p:txBody>
      </p:sp>
      <p:sp>
        <p:nvSpPr>
          <p:cNvPr id="420" name="Google Shape;420;p12"/>
          <p:cNvSpPr/>
          <p:nvPr/>
        </p:nvSpPr>
        <p:spPr>
          <a:xfrm>
            <a:off x="365760" y="1234440"/>
            <a:ext cx="2715768" cy="3611880"/>
          </a:xfrm>
          <a:prstGeom prst="rect">
            <a:avLst/>
          </a:prstGeom>
          <a:solidFill>
            <a:srgbClr val="0F1A2E"/>
          </a:solidFill>
          <a:ln cap="flat" cmpd="sng" w="12700">
            <a:solidFill>
              <a:srgbClr val="162035"/>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12"/>
          <p:cNvSpPr/>
          <p:nvPr/>
        </p:nvSpPr>
        <p:spPr>
          <a:xfrm>
            <a:off x="365760" y="1234440"/>
            <a:ext cx="2715768" cy="54864"/>
          </a:xfrm>
          <a:prstGeom prst="rect">
            <a:avLst/>
          </a:prstGeom>
          <a:solidFill>
            <a:srgbClr val="38BDF8"/>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12"/>
          <p:cNvSpPr/>
          <p:nvPr/>
        </p:nvSpPr>
        <p:spPr>
          <a:xfrm>
            <a:off x="502920" y="1389888"/>
            <a:ext cx="2468880"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8BDF8"/>
              </a:buClr>
              <a:buSzPts val="1400"/>
              <a:buFont typeface="Trebuchet MS"/>
              <a:buNone/>
            </a:pPr>
            <a:r>
              <a:rPr b="1" i="0" lang="en-US" sz="1400" u="none" cap="none" strike="noStrike">
                <a:solidFill>
                  <a:srgbClr val="38BDF8"/>
                </a:solidFill>
                <a:latin typeface="Trebuchet MS"/>
                <a:ea typeface="Trebuchet MS"/>
                <a:cs typeface="Trebuchet MS"/>
                <a:sym typeface="Trebuchet MS"/>
              </a:rPr>
              <a:t>What I Learned</a:t>
            </a:r>
            <a:endParaRPr b="0" i="0" sz="1400" u="none" cap="none" strike="noStrike">
              <a:solidFill>
                <a:schemeClr val="dk1"/>
              </a:solidFill>
              <a:latin typeface="Calibri"/>
              <a:ea typeface="Calibri"/>
              <a:cs typeface="Calibri"/>
              <a:sym typeface="Calibri"/>
            </a:endParaRPr>
          </a:p>
        </p:txBody>
      </p:sp>
      <p:sp>
        <p:nvSpPr>
          <p:cNvPr id="423" name="Google Shape;423;p12"/>
          <p:cNvSpPr/>
          <p:nvPr/>
        </p:nvSpPr>
        <p:spPr>
          <a:xfrm>
            <a:off x="3264408" y="1234440"/>
            <a:ext cx="2715768" cy="3611880"/>
          </a:xfrm>
          <a:prstGeom prst="rect">
            <a:avLst/>
          </a:prstGeom>
          <a:solidFill>
            <a:srgbClr val="0F1A2E"/>
          </a:solidFill>
          <a:ln cap="flat" cmpd="sng" w="12700">
            <a:solidFill>
              <a:srgbClr val="162035"/>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12"/>
          <p:cNvSpPr/>
          <p:nvPr/>
        </p:nvSpPr>
        <p:spPr>
          <a:xfrm>
            <a:off x="502920" y="1828800"/>
            <a:ext cx="2468880" cy="29260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LLMs are powerful NLU parsers</a:t>
            </a:r>
            <a:endParaRPr b="0" i="0" sz="1100" u="none" cap="none" strike="noStrike">
              <a:solidFill>
                <a:srgbClr val="E2E8F0"/>
              </a:solidFill>
              <a:latin typeface="Calibri"/>
              <a:ea typeface="Calibri"/>
              <a:cs typeface="Calibri"/>
              <a:sym typeface="Calibri"/>
            </a:endParaRPr>
          </a:p>
          <a:p>
            <a:pPr indent="0" lvl="0" marL="0" marR="0" rtl="0" algn="l">
              <a:lnSpc>
                <a:spcPct val="100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when given structured output</a:t>
            </a:r>
            <a:endParaRPr b="0" i="0" sz="1100" u="none" cap="none" strike="noStrike">
              <a:solidFill>
                <a:srgbClr val="E2E8F0"/>
              </a:solidFill>
              <a:latin typeface="Calibri"/>
              <a:ea typeface="Calibri"/>
              <a:cs typeface="Calibri"/>
              <a:sym typeface="Calibri"/>
            </a:endParaRPr>
          </a:p>
          <a:p>
            <a:pPr indent="0" lvl="0" marL="0" marR="0" rtl="0" algn="l">
              <a:lnSpc>
                <a:spcPct val="100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schemas</a:t>
            </a:r>
            <a:endParaRPr b="0" i="0" sz="1100" u="none" cap="none" strike="noStrike">
              <a:solidFill>
                <a:srgbClr val="E2E8F0"/>
              </a:solidFill>
              <a:latin typeface="Calibri"/>
              <a:ea typeface="Calibri"/>
              <a:cs typeface="Calibri"/>
              <a:sym typeface="Calibri"/>
            </a:endParaRPr>
          </a:p>
          <a:p>
            <a:pPr indent="0" lvl="0" marL="0" marR="0" rtl="0" algn="l">
              <a:lnSpc>
                <a:spcPct val="100000"/>
              </a:lnSpc>
              <a:spcBef>
                <a:spcPts val="0"/>
              </a:spcBef>
              <a:spcAft>
                <a:spcPts val="0"/>
              </a:spcAft>
              <a:buClr>
                <a:srgbClr val="E2E8F0"/>
              </a:buClr>
              <a:buSzPts val="1100"/>
              <a:buFont typeface="Calibri"/>
              <a:buNone/>
            </a:pPr>
            <a:r>
              <a:t/>
            </a:r>
            <a:endParaRPr b="0" i="0" sz="1100" u="none" cap="none" strike="noStrike">
              <a:solidFill>
                <a:srgbClr val="E2E8F0"/>
              </a:solidFill>
              <a:latin typeface="Calibri"/>
              <a:ea typeface="Calibri"/>
              <a:cs typeface="Calibri"/>
              <a:sym typeface="Calibri"/>
            </a:endParaRPr>
          </a:p>
          <a:p>
            <a:pPr indent="0" lvl="0" marL="0" marR="0" rtl="0" algn="l">
              <a:lnSpc>
                <a:spcPct val="100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Inventory constraint algorithms</a:t>
            </a:r>
            <a:endParaRPr b="0" i="0" sz="1100" u="none" cap="none" strike="noStrike">
              <a:solidFill>
                <a:srgbClr val="E2E8F0"/>
              </a:solidFill>
              <a:latin typeface="Calibri"/>
              <a:ea typeface="Calibri"/>
              <a:cs typeface="Calibri"/>
              <a:sym typeface="Calibri"/>
            </a:endParaRPr>
          </a:p>
          <a:p>
            <a:pPr indent="0" lvl="0" marL="0" marR="0" rtl="0" algn="l">
              <a:lnSpc>
                <a:spcPct val="100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require careful state management to</a:t>
            </a:r>
            <a:endParaRPr b="0" i="0" sz="1100" u="none" cap="none" strike="noStrike">
              <a:solidFill>
                <a:srgbClr val="E2E8F0"/>
              </a:solidFill>
              <a:latin typeface="Calibri"/>
              <a:ea typeface="Calibri"/>
              <a:cs typeface="Calibri"/>
              <a:sym typeface="Calibri"/>
            </a:endParaRPr>
          </a:p>
          <a:p>
            <a:pPr indent="0" lvl="0" marL="0" marR="0" rtl="0" algn="l">
              <a:lnSpc>
                <a:spcPct val="100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avoid allocating the same parts to 2</a:t>
            </a:r>
            <a:endParaRPr b="0" i="0" sz="1100" u="none" cap="none" strike="noStrike">
              <a:solidFill>
                <a:srgbClr val="E2E8F0"/>
              </a:solidFill>
              <a:latin typeface="Calibri"/>
              <a:ea typeface="Calibri"/>
              <a:cs typeface="Calibri"/>
              <a:sym typeface="Calibri"/>
            </a:endParaRPr>
          </a:p>
          <a:p>
            <a:pPr indent="0" lvl="0" marL="0" marR="0" rtl="0" algn="l">
              <a:lnSpc>
                <a:spcPct val="100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orders</a:t>
            </a:r>
            <a:endParaRPr b="0" i="0" sz="1100" u="none" cap="none" strike="noStrike">
              <a:solidFill>
                <a:srgbClr val="E2E8F0"/>
              </a:solidFill>
              <a:latin typeface="Calibri"/>
              <a:ea typeface="Calibri"/>
              <a:cs typeface="Calibri"/>
              <a:sym typeface="Calibri"/>
            </a:endParaRPr>
          </a:p>
          <a:p>
            <a:pPr indent="0" lvl="0" marL="0" marR="0" rtl="0" algn="l">
              <a:lnSpc>
                <a:spcPct val="100000"/>
              </a:lnSpc>
              <a:spcBef>
                <a:spcPts val="0"/>
              </a:spcBef>
              <a:spcAft>
                <a:spcPts val="0"/>
              </a:spcAft>
              <a:buClr>
                <a:srgbClr val="E2E8F0"/>
              </a:buClr>
              <a:buSzPts val="1100"/>
              <a:buFont typeface="Calibri"/>
              <a:buNone/>
            </a:pPr>
            <a:r>
              <a:t/>
            </a:r>
            <a:endParaRPr b="0" i="0" sz="1100" u="none" cap="none" strike="noStrike">
              <a:solidFill>
                <a:srgbClr val="E2E8F0"/>
              </a:solidFill>
              <a:latin typeface="Calibri"/>
              <a:ea typeface="Calibri"/>
              <a:cs typeface="Calibri"/>
              <a:sym typeface="Calibri"/>
            </a:endParaRPr>
          </a:p>
          <a:p>
            <a:pPr indent="0" lvl="0" marL="0" marR="0" rtl="0" algn="l">
              <a:lnSpc>
                <a:spcPct val="100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Visualisation &gt; raw numbers — the</a:t>
            </a:r>
            <a:endParaRPr b="0" i="0" sz="1100" u="none" cap="none" strike="noStrike">
              <a:solidFill>
                <a:srgbClr val="E2E8F0"/>
              </a:solidFill>
              <a:latin typeface="Calibri"/>
              <a:ea typeface="Calibri"/>
              <a:cs typeface="Calibri"/>
              <a:sym typeface="Calibri"/>
            </a:endParaRPr>
          </a:p>
          <a:p>
            <a:pPr indent="0" lvl="0" marL="0" marR="0" rtl="0" algn="l">
              <a:lnSpc>
                <a:spcPct val="100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dashboard makes patterns visible</a:t>
            </a:r>
            <a:endParaRPr b="0" i="0" sz="1100" u="none" cap="none" strike="noStrike">
              <a:solidFill>
                <a:srgbClr val="E2E8F0"/>
              </a:solidFill>
              <a:latin typeface="Calibri"/>
              <a:ea typeface="Calibri"/>
              <a:cs typeface="Calibri"/>
              <a:sym typeface="Calibri"/>
            </a:endParaRPr>
          </a:p>
          <a:p>
            <a:pPr indent="0" lvl="0" marL="0" marR="0" rtl="0" algn="l">
              <a:lnSpc>
                <a:spcPct val="100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instantly</a:t>
            </a:r>
            <a:endParaRPr b="0" i="0" sz="1100" u="none" cap="none" strike="noStrike">
              <a:solidFill>
                <a:srgbClr val="E2E8F0"/>
              </a:solidFill>
              <a:latin typeface="Calibri"/>
              <a:ea typeface="Calibri"/>
              <a:cs typeface="Calibri"/>
              <a:sym typeface="Calibri"/>
            </a:endParaRPr>
          </a:p>
        </p:txBody>
      </p:sp>
      <p:sp>
        <p:nvSpPr>
          <p:cNvPr id="425" name="Google Shape;425;p12"/>
          <p:cNvSpPr/>
          <p:nvPr/>
        </p:nvSpPr>
        <p:spPr>
          <a:xfrm>
            <a:off x="3264408" y="1234440"/>
            <a:ext cx="2715768" cy="54864"/>
          </a:xfrm>
          <a:prstGeom prst="rect">
            <a:avLst/>
          </a:prstGeom>
          <a:solidFill>
            <a:srgbClr val="A78BFA"/>
          </a:solidFill>
          <a:ln cap="flat" cmpd="sng" w="12700">
            <a:solidFill>
              <a:srgbClr val="A78B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12"/>
          <p:cNvSpPr/>
          <p:nvPr/>
        </p:nvSpPr>
        <p:spPr>
          <a:xfrm>
            <a:off x="3401568" y="1389888"/>
            <a:ext cx="2468880"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A78BFA"/>
              </a:buClr>
              <a:buSzPts val="1400"/>
              <a:buFont typeface="Trebuchet MS"/>
              <a:buNone/>
            </a:pPr>
            <a:r>
              <a:rPr b="1" i="0" lang="en-US" sz="1400" u="none" cap="none" strike="noStrike">
                <a:solidFill>
                  <a:srgbClr val="A78BFA"/>
                </a:solidFill>
                <a:latin typeface="Trebuchet MS"/>
                <a:ea typeface="Trebuchet MS"/>
                <a:cs typeface="Trebuchet MS"/>
                <a:sym typeface="Trebuchet MS"/>
              </a:rPr>
              <a:t>Technical Highlights</a:t>
            </a:r>
            <a:endParaRPr b="0" i="0" sz="1400" u="none" cap="none" strike="noStrike">
              <a:solidFill>
                <a:schemeClr val="dk1"/>
              </a:solidFill>
              <a:latin typeface="Calibri"/>
              <a:ea typeface="Calibri"/>
              <a:cs typeface="Calibri"/>
              <a:sym typeface="Calibri"/>
            </a:endParaRPr>
          </a:p>
        </p:txBody>
      </p:sp>
      <p:sp>
        <p:nvSpPr>
          <p:cNvPr id="427" name="Google Shape;427;p12"/>
          <p:cNvSpPr/>
          <p:nvPr/>
        </p:nvSpPr>
        <p:spPr>
          <a:xfrm>
            <a:off x="3401568" y="1828800"/>
            <a:ext cx="2468880" cy="29260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Two-call Claude pipeline separates intent parsing from response generation for reliability</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SVG-based charts require no external libraries — keeping the app self-contained</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Scenario engine computes exact order-level diffs — not just aggregate counts</a:t>
            </a:r>
            <a:endParaRPr b="0" i="0" sz="1100" u="none" cap="none" strike="noStrike">
              <a:solidFill>
                <a:schemeClr val="dk1"/>
              </a:solidFill>
              <a:latin typeface="Calibri"/>
              <a:ea typeface="Calibri"/>
              <a:cs typeface="Calibri"/>
              <a:sym typeface="Calibri"/>
            </a:endParaRPr>
          </a:p>
        </p:txBody>
      </p:sp>
      <p:sp>
        <p:nvSpPr>
          <p:cNvPr id="428" name="Google Shape;428;p12"/>
          <p:cNvSpPr/>
          <p:nvPr/>
        </p:nvSpPr>
        <p:spPr>
          <a:xfrm>
            <a:off x="6163056" y="1234440"/>
            <a:ext cx="2715768" cy="3611880"/>
          </a:xfrm>
          <a:prstGeom prst="rect">
            <a:avLst/>
          </a:prstGeom>
          <a:solidFill>
            <a:srgbClr val="0F1A2E"/>
          </a:solidFill>
          <a:ln cap="flat" cmpd="sng" w="12700">
            <a:solidFill>
              <a:srgbClr val="162035"/>
            </a:solidFill>
            <a:prstDash val="solid"/>
            <a:round/>
            <a:headEnd len="sm" w="sm" type="none"/>
            <a:tailEnd len="sm" w="sm" type="none"/>
          </a:ln>
          <a:effectLst>
            <a:outerShdw blurRad="101600" rotWithShape="0" algn="bl" dir="8100000" dist="38100">
              <a:srgbClr val="000000">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12"/>
          <p:cNvSpPr/>
          <p:nvPr/>
        </p:nvSpPr>
        <p:spPr>
          <a:xfrm>
            <a:off x="6163056" y="1234440"/>
            <a:ext cx="2715768" cy="54864"/>
          </a:xfrm>
          <a:prstGeom prst="rect">
            <a:avLst/>
          </a:prstGeom>
          <a:solidFill>
            <a:srgbClr val="34D399"/>
          </a:solidFill>
          <a:ln cap="flat" cmpd="sng" w="12700">
            <a:solidFill>
              <a:srgbClr val="34D3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12"/>
          <p:cNvSpPr/>
          <p:nvPr/>
        </p:nvSpPr>
        <p:spPr>
          <a:xfrm>
            <a:off x="6300216" y="1389888"/>
            <a:ext cx="2468880"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4D399"/>
              </a:buClr>
              <a:buSzPts val="1400"/>
              <a:buFont typeface="Trebuchet MS"/>
              <a:buNone/>
            </a:pPr>
            <a:r>
              <a:rPr b="1" i="0" lang="en-US" sz="1400" u="none" cap="none" strike="noStrike">
                <a:solidFill>
                  <a:srgbClr val="34D399"/>
                </a:solidFill>
                <a:latin typeface="Trebuchet MS"/>
                <a:ea typeface="Trebuchet MS"/>
                <a:cs typeface="Trebuchet MS"/>
                <a:sym typeface="Trebuchet MS"/>
              </a:rPr>
              <a:t>Real-World Applicability</a:t>
            </a:r>
            <a:endParaRPr b="0" i="0" sz="1400" u="none" cap="none" strike="noStrike">
              <a:solidFill>
                <a:schemeClr val="dk1"/>
              </a:solidFill>
              <a:latin typeface="Calibri"/>
              <a:ea typeface="Calibri"/>
              <a:cs typeface="Calibri"/>
              <a:sym typeface="Calibri"/>
            </a:endParaRPr>
          </a:p>
        </p:txBody>
      </p:sp>
      <p:sp>
        <p:nvSpPr>
          <p:cNvPr id="431" name="Google Shape;431;p12"/>
          <p:cNvSpPr/>
          <p:nvPr/>
        </p:nvSpPr>
        <p:spPr>
          <a:xfrm>
            <a:off x="6300216" y="1828800"/>
            <a:ext cx="2468880" cy="29260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Any supply chain with warehouse hierarchies and part substitution</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Automotive manufacturing, aerospace MRO, and electronics distribution</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Could extend to: partial fulfillment, replenishment recommendations, demand forecasting</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The AI query layer removes the need for SQL or BI tool training for end users</a:t>
            </a:r>
            <a:endParaRPr b="0" i="0" sz="1100" u="none" cap="none" strike="noStrike">
              <a:solidFill>
                <a:schemeClr val="dk1"/>
              </a:solidFill>
              <a:latin typeface="Calibri"/>
              <a:ea typeface="Calibri"/>
              <a:cs typeface="Calibri"/>
              <a:sym typeface="Calibri"/>
            </a:endParaRPr>
          </a:p>
        </p:txBody>
      </p:sp>
      <p:sp>
        <p:nvSpPr>
          <p:cNvPr id="432" name="Google Shape;432;p12"/>
          <p:cNvSpPr/>
          <p:nvPr/>
        </p:nvSpPr>
        <p:spPr>
          <a:xfrm>
            <a:off x="594360" y="4709160"/>
            <a:ext cx="8046720" cy="3200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A78BFA"/>
              </a:buClr>
              <a:buSzPts val="1100"/>
              <a:buFont typeface="Calibri"/>
              <a:buNone/>
            </a:pPr>
            <a:r>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B14"/>
        </a:solidFill>
      </p:bgPr>
    </p:bg>
    <p:spTree>
      <p:nvGrpSpPr>
        <p:cNvPr id="437" name="Shape 437"/>
        <p:cNvGrpSpPr/>
        <p:nvPr/>
      </p:nvGrpSpPr>
      <p:grpSpPr>
        <a:xfrm>
          <a:off x="0" y="0"/>
          <a:ext cx="0" cy="0"/>
          <a:chOff x="0" y="0"/>
          <a:chExt cx="0" cy="0"/>
        </a:xfrm>
      </p:grpSpPr>
      <p:sp>
        <p:nvSpPr>
          <p:cNvPr id="438" name="Google Shape;438;p13"/>
          <p:cNvSpPr/>
          <p:nvPr/>
        </p:nvSpPr>
        <p:spPr>
          <a:xfrm>
            <a:off x="0" y="0"/>
            <a:ext cx="9144000" cy="54864"/>
          </a:xfrm>
          <a:prstGeom prst="rect">
            <a:avLst/>
          </a:prstGeom>
          <a:solidFill>
            <a:srgbClr val="3B82F6"/>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13"/>
          <p:cNvSpPr/>
          <p:nvPr/>
        </p:nvSpPr>
        <p:spPr>
          <a:xfrm>
            <a:off x="0" y="54875"/>
            <a:ext cx="5481000" cy="5088600"/>
          </a:xfrm>
          <a:prstGeom prst="rect">
            <a:avLst/>
          </a:prstGeom>
          <a:solidFill>
            <a:srgbClr val="0A1220"/>
          </a:solidFill>
          <a:ln cap="flat" cmpd="sng" w="12700">
            <a:solidFill>
              <a:srgbClr val="0A12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13"/>
          <p:cNvSpPr/>
          <p:nvPr/>
        </p:nvSpPr>
        <p:spPr>
          <a:xfrm>
            <a:off x="457200" y="1097275"/>
            <a:ext cx="4660800" cy="1183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4000"/>
              <a:buFont typeface="Trebuchet MS"/>
              <a:buNone/>
            </a:pPr>
            <a:r>
              <a:rPr b="1" i="0" lang="en-US" sz="4800" u="none" cap="none" strike="noStrike">
                <a:solidFill>
                  <a:srgbClr val="FFFFFF"/>
                </a:solidFill>
                <a:latin typeface="Trebuchet MS"/>
                <a:ea typeface="Trebuchet MS"/>
                <a:cs typeface="Trebuchet MS"/>
                <a:sym typeface="Trebuchet MS"/>
              </a:rPr>
              <a:t>  THANK YOU</a:t>
            </a:r>
            <a:endParaRPr b="0" i="0" sz="4800" u="none" cap="none" strike="noStrike">
              <a:solidFill>
                <a:schemeClr val="dk1"/>
              </a:solidFill>
              <a:latin typeface="Calibri"/>
              <a:ea typeface="Calibri"/>
              <a:cs typeface="Calibri"/>
              <a:sym typeface="Calibri"/>
            </a:endParaRPr>
          </a:p>
        </p:txBody>
      </p:sp>
      <p:sp>
        <p:nvSpPr>
          <p:cNvPr id="441" name="Google Shape;441;p13"/>
          <p:cNvSpPr/>
          <p:nvPr/>
        </p:nvSpPr>
        <p:spPr>
          <a:xfrm>
            <a:off x="457200" y="2552707"/>
            <a:ext cx="4114800" cy="32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8BDF8"/>
              </a:buClr>
              <a:buSzPts val="2200"/>
              <a:buFont typeface="Trebuchet MS"/>
              <a:buNone/>
            </a:pPr>
            <a:r>
              <a:rPr b="0" i="0" lang="en-US" sz="2200" u="none" cap="none" strike="noStrike">
                <a:solidFill>
                  <a:srgbClr val="38BDF8"/>
                </a:solidFill>
                <a:latin typeface="Trebuchet MS"/>
                <a:ea typeface="Trebuchet MS"/>
                <a:cs typeface="Trebuchet MS"/>
                <a:sym typeface="Trebuchet MS"/>
              </a:rPr>
              <a:t>  Vehicle Order Analytics</a:t>
            </a:r>
            <a:endParaRPr b="0" i="0" sz="2200" u="none" cap="none" strike="noStrike">
              <a:solidFill>
                <a:schemeClr val="dk1"/>
              </a:solidFill>
              <a:latin typeface="Calibri"/>
              <a:ea typeface="Calibri"/>
              <a:cs typeface="Calibri"/>
              <a:sym typeface="Calibri"/>
            </a:endParaRPr>
          </a:p>
        </p:txBody>
      </p:sp>
      <p:cxnSp>
        <p:nvCxnSpPr>
          <p:cNvPr id="442" name="Google Shape;442;p13"/>
          <p:cNvCxnSpPr/>
          <p:nvPr/>
        </p:nvCxnSpPr>
        <p:spPr>
          <a:xfrm>
            <a:off x="457200" y="2880360"/>
            <a:ext cx="4114800" cy="0"/>
          </a:xfrm>
          <a:prstGeom prst="straightConnector1">
            <a:avLst/>
          </a:prstGeom>
          <a:noFill/>
          <a:ln cap="flat" cmpd="sng" w="10150">
            <a:solidFill>
              <a:srgbClr val="162035"/>
            </a:solidFill>
            <a:prstDash val="solid"/>
            <a:round/>
            <a:headEnd len="sm" w="sm" type="none"/>
            <a:tailEnd len="sm" w="sm" type="none"/>
          </a:ln>
        </p:spPr>
      </p:cxnSp>
      <p:pic>
        <p:nvPicPr>
          <p:cNvPr id="443" name="Google Shape;443;p13" title="tesla_logo_white (1).png"/>
          <p:cNvPicPr preferRelativeResize="0"/>
          <p:nvPr/>
        </p:nvPicPr>
        <p:blipFill rotWithShape="1">
          <a:blip r:embed="rId3">
            <a:alphaModFix/>
          </a:blip>
          <a:srcRect b="0" l="0" r="0" t="0"/>
          <a:stretch/>
        </p:blipFill>
        <p:spPr>
          <a:xfrm>
            <a:off x="4934500" y="515699"/>
            <a:ext cx="4084326" cy="40791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